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 id="2147483704" r:id="rId7"/>
    <p:sldMasterId id="2147483705" r:id="rId8"/>
    <p:sldMasterId id="214748370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Lst>
  <p:sldSz cy="5143500" cx="9144000"/>
  <p:notesSz cx="6858000" cy="9144000"/>
  <p:embeddedFontLst>
    <p:embeddedFont>
      <p:font typeface="Geo"/>
      <p:regular r:id="rId54"/>
      <p:italic r:id="rId55"/>
    </p:embeddedFont>
    <p:embeddedFont>
      <p:font typeface="Raleway"/>
      <p:regular r:id="rId56"/>
      <p:bold r:id="rId57"/>
      <p:italic r:id="rId58"/>
      <p:boldItalic r:id="rId59"/>
    </p:embeddedFont>
    <p:embeddedFont>
      <p:font typeface="Roboto"/>
      <p:regular r:id="rId60"/>
      <p:bold r:id="rId61"/>
      <p:italic r:id="rId62"/>
      <p:boldItalic r:id="rId63"/>
    </p:embeddedFont>
    <p:embeddedFont>
      <p:font typeface="Lato"/>
      <p:regular r:id="rId64"/>
      <p:bold r:id="rId65"/>
      <p:italic r:id="rId66"/>
      <p:boldItalic r:id="rId67"/>
    </p:embeddedFont>
    <p:embeddedFont>
      <p:font typeface="Poppins"/>
      <p:regular r:id="rId68"/>
      <p:bold r:id="rId69"/>
      <p:italic r:id="rId70"/>
      <p:boldItalic r:id="rId71"/>
    </p:embeddedFont>
    <p:embeddedFont>
      <p:font typeface="Arial Black"/>
      <p:regular r:id="rId72"/>
    </p:embeddedFont>
    <p:embeddedFont>
      <p:font typeface="Open Sans Light"/>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530ABA-82E6-40B3-9370-665EBA873D1E}">
  <a:tblStyle styleId="{7E530ABA-82E6-40B3-9370-665EBA873D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2582AF7-009F-48A2-9A44-981834622FC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font" Target="fonts/Geo-regular.fntdata"/><Relationship Id="rId55" Type="http://schemas.openxmlformats.org/officeDocument/2006/relationships/font" Target="fonts/Geo-italic.fntdata"/><Relationship Id="rId56" Type="http://schemas.openxmlformats.org/officeDocument/2006/relationships/font" Target="fonts/Raleway-regular.fntdata"/><Relationship Id="rId57" Type="http://schemas.openxmlformats.org/officeDocument/2006/relationships/font" Target="fonts/Raleway-bold.fntdata"/><Relationship Id="rId58" Type="http://schemas.openxmlformats.org/officeDocument/2006/relationships/font" Target="fonts/Raleway-italic.fntdata"/><Relationship Id="rId59" Type="http://schemas.openxmlformats.org/officeDocument/2006/relationships/font" Target="fonts/Raleway-boldItalic.fntdata"/><Relationship Id="rId60" Type="http://schemas.openxmlformats.org/officeDocument/2006/relationships/font" Target="fonts/Roboto-regular.fntdata"/><Relationship Id="rId61" Type="http://schemas.openxmlformats.org/officeDocument/2006/relationships/font" Target="fonts/Roboto-bold.fntdata"/><Relationship Id="rId62" Type="http://schemas.openxmlformats.org/officeDocument/2006/relationships/font" Target="fonts/Roboto-italic.fntdata"/><Relationship Id="rId63" Type="http://schemas.openxmlformats.org/officeDocument/2006/relationships/font" Target="fonts/Roboto-boldItalic.fntdata"/><Relationship Id="rId64" Type="http://schemas.openxmlformats.org/officeDocument/2006/relationships/font" Target="fonts/Lato-regular.fntdata"/><Relationship Id="rId65" Type="http://schemas.openxmlformats.org/officeDocument/2006/relationships/font" Target="fonts/Lato-bold.fntdata"/><Relationship Id="rId66" Type="http://schemas.openxmlformats.org/officeDocument/2006/relationships/font" Target="fonts/Lato-italic.fntdata"/><Relationship Id="rId67" Type="http://schemas.openxmlformats.org/officeDocument/2006/relationships/font" Target="fonts/Lato-boldItalic.fntdata"/><Relationship Id="rId68" Type="http://schemas.openxmlformats.org/officeDocument/2006/relationships/font" Target="fonts/Poppins-regular.fntdata"/><Relationship Id="rId69" Type="http://schemas.openxmlformats.org/officeDocument/2006/relationships/font" Target="fonts/Poppins-bold.fntdata"/><Relationship Id="rId70" Type="http://schemas.openxmlformats.org/officeDocument/2006/relationships/font" Target="fonts/Poppins-italic.fntdata"/><Relationship Id="rId71" Type="http://schemas.openxmlformats.org/officeDocument/2006/relationships/font" Target="fonts/Poppins-boldItalic.fntdata"/><Relationship Id="rId72" Type="http://schemas.openxmlformats.org/officeDocument/2006/relationships/font" Target="fonts/ArialBlack-regular.fntdata"/><Relationship Id="rId73" Type="http://schemas.openxmlformats.org/officeDocument/2006/relationships/font" Target="fonts/OpenSansLight-regular.fntdata"/><Relationship Id="rId74" Type="http://schemas.openxmlformats.org/officeDocument/2006/relationships/font" Target="fonts/OpenSansLight-bold.fntdata"/><Relationship Id="rId75" Type="http://schemas.openxmlformats.org/officeDocument/2006/relationships/font" Target="fonts/OpenSansLight-italic.fntdata"/><Relationship Id="rId76" Type="http://schemas.openxmlformats.org/officeDocument/2006/relationships/font" Target="fonts/OpenSans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dd631576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dd631576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6315760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dd6315760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d6315760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d6315760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d6315760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dd6315760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d63157608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d63157608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63157608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63157608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d63157608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d63157608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d63157608_0_1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d63157608_0_1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d63157608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dd63157608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d63157608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d63157608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d63157608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dd63157608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d63157608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d6315760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d63157608_0_9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dd6315760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d63157608_0_10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dd63157608_0_10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63157608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63157608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d63157608_0_1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d63157608_0_1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d63157608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d63157608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dd63157608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dd63157608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d63157608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d63157608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d63157608_0_1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d63157608_0_1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d63157608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d63157608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d63157608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d63157608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d63157608_0_1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d63157608_0_1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dd63157608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dd63157608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d63157608_0_1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d63157608_0_1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d63157608_0_2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d63157608_0_2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63157608_0_2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d63157608_0_2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d63157608_0_2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d63157608_0_2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d63157608_0_2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d63157608_0_2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d63157608_0_2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dd63157608_0_2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d63157608_0_25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7" name="Google Shape;577;g3dd63157608_0_2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d63157608_0_2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dd63157608_0_2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dd63157608_0_2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g3dd63157608_0_2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d63157608_0_2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3dd63157608_0_2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d63157608_0_28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g3dd63157608_0_2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d63157608_0_2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dd63157608_0_2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d63157608_0_2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dd63157608_0_2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d63157608_0_30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d63157608_0_3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d63157608_0_3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dd63157608_0_3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d63157608_0_3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dd63157608_0_3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dd63157608_0_3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dd63157608_0_3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dd63157608_0_3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dd63157608_0_3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63157608_0_3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dd63157608_0_3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59" name="Google Shape;59;p14"/>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0" name="Google Shape;60;p1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4" name="Google Shape;6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66" name="Google Shape;66;p1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67" name="Google Shape;67;p15"/>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1" name="Google Shape;71;p16"/>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72" name="Google Shape;72;p16"/>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77" name="Google Shape;77;p1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78" name="Google Shape;78;p17"/>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1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1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91" name="Google Shape;91;p2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92" name="Google Shape;92;p20"/>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5" name="Google Shape;95;p2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6" name="Google Shape;9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97" name="Google Shape;97;p2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2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1" name="Shape 101"/>
        <p:cNvGrpSpPr/>
        <p:nvPr/>
      </p:nvGrpSpPr>
      <p:grpSpPr>
        <a:xfrm>
          <a:off x="0" y="0"/>
          <a:ext cx="0" cy="0"/>
          <a:chOff x="0" y="0"/>
          <a:chExt cx="0" cy="0"/>
        </a:xfrm>
      </p:grpSpPr>
      <p:sp>
        <p:nvSpPr>
          <p:cNvPr id="102" name="Google Shape;102;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3" name="Google Shape;10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6" name="Google Shape;106;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7" name="Google Shape;10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3" name="Shape 113"/>
        <p:cNvGrpSpPr/>
        <p:nvPr/>
      </p:nvGrpSpPr>
      <p:grpSpPr>
        <a:xfrm>
          <a:off x="0" y="0"/>
          <a:ext cx="0" cy="0"/>
          <a:chOff x="0" y="0"/>
          <a:chExt cx="0" cy="0"/>
        </a:xfrm>
      </p:grpSpPr>
      <p:sp>
        <p:nvSpPr>
          <p:cNvPr id="114" name="Google Shape;1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5" name="Google Shape;1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 name="Shape 117"/>
        <p:cNvGrpSpPr/>
        <p:nvPr/>
      </p:nvGrpSpPr>
      <p:grpSpPr>
        <a:xfrm>
          <a:off x="0" y="0"/>
          <a:ext cx="0" cy="0"/>
          <a:chOff x="0" y="0"/>
          <a:chExt cx="0" cy="0"/>
        </a:xfrm>
      </p:grpSpPr>
      <p:sp>
        <p:nvSpPr>
          <p:cNvPr id="118" name="Google Shape;118;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24" name="Google Shape;124;p28"/>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25" name="Google Shape;125;p28"/>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8" name="Google Shape;128;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9" name="Google Shape;1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9"/>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31" name="Google Shape;131;p29"/>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2" name="Google Shape;132;p29"/>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30"/>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36" name="Google Shape;136;p3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137" name="Google Shape;137;p30"/>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8" name="Shape 138"/>
        <p:cNvGrpSpPr/>
        <p:nvPr/>
      </p:nvGrpSpPr>
      <p:grpSpPr>
        <a:xfrm>
          <a:off x="0" y="0"/>
          <a:ext cx="0" cy="0"/>
          <a:chOff x="0" y="0"/>
          <a:chExt cx="0" cy="0"/>
        </a:xfrm>
      </p:grpSpPr>
      <p:sp>
        <p:nvSpPr>
          <p:cNvPr id="139" name="Google Shape;13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3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42" name="Google Shape;142;p3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43" name="Google Shape;143;p31"/>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4" name="Shape 144"/>
        <p:cNvGrpSpPr/>
        <p:nvPr/>
      </p:nvGrpSpPr>
      <p:grpSpPr>
        <a:xfrm>
          <a:off x="0" y="0"/>
          <a:ext cx="0" cy="0"/>
          <a:chOff x="0" y="0"/>
          <a:chExt cx="0" cy="0"/>
        </a:xfrm>
      </p:grpSpPr>
      <p:sp>
        <p:nvSpPr>
          <p:cNvPr id="145" name="Google Shape;14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6" name="Google Shape;14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7" name="Shape 147"/>
        <p:cNvGrpSpPr/>
        <p:nvPr/>
      </p:nvGrpSpPr>
      <p:grpSpPr>
        <a:xfrm>
          <a:off x="0" y="0"/>
          <a:ext cx="0" cy="0"/>
          <a:chOff x="0" y="0"/>
          <a:chExt cx="0" cy="0"/>
        </a:xfrm>
      </p:grpSpPr>
      <p:sp>
        <p:nvSpPr>
          <p:cNvPr id="148" name="Google Shape;14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0" name="Google Shape;15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1" name="Google Shape;15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52" name="Google Shape;15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3" name="Shape 153"/>
        <p:cNvGrpSpPr/>
        <p:nvPr/>
      </p:nvGrpSpPr>
      <p:grpSpPr>
        <a:xfrm>
          <a:off x="0" y="0"/>
          <a:ext cx="0" cy="0"/>
          <a:chOff x="0" y="0"/>
          <a:chExt cx="0" cy="0"/>
        </a:xfrm>
      </p:grpSpPr>
      <p:sp>
        <p:nvSpPr>
          <p:cNvPr id="154" name="Google Shape;15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3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156" name="Google Shape;156;p3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157" name="Google Shape;157;p34"/>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60" name="Google Shape;16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61" name="Google Shape;16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2" name="Google Shape;162;p35"/>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 name="Shape 163"/>
        <p:cNvGrpSpPr/>
        <p:nvPr/>
      </p:nvGrpSpPr>
      <p:grpSpPr>
        <a:xfrm>
          <a:off x="0" y="0"/>
          <a:ext cx="0" cy="0"/>
          <a:chOff x="0" y="0"/>
          <a:chExt cx="0" cy="0"/>
        </a:xfrm>
      </p:grpSpPr>
      <p:sp>
        <p:nvSpPr>
          <p:cNvPr id="164" name="Google Shape;1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36"/>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 name="Shape 171"/>
        <p:cNvGrpSpPr/>
        <p:nvPr/>
      </p:nvGrpSpPr>
      <p:grpSpPr>
        <a:xfrm>
          <a:off x="0" y="0"/>
          <a:ext cx="0" cy="0"/>
          <a:chOff x="0" y="0"/>
          <a:chExt cx="0" cy="0"/>
        </a:xfrm>
      </p:grpSpPr>
      <p:sp>
        <p:nvSpPr>
          <p:cNvPr id="172" name="Google Shape;172;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3" name="Google Shape;17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38"/>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75" name="Google Shape;175;p38"/>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76" name="Google Shape;176;p38"/>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0" name="Shape 180"/>
        <p:cNvGrpSpPr/>
        <p:nvPr/>
      </p:nvGrpSpPr>
      <p:grpSpPr>
        <a:xfrm>
          <a:off x="0" y="0"/>
          <a:ext cx="0" cy="0"/>
          <a:chOff x="0" y="0"/>
          <a:chExt cx="0" cy="0"/>
        </a:xfrm>
      </p:grpSpPr>
      <p:sp>
        <p:nvSpPr>
          <p:cNvPr id="181" name="Google Shape;181;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2" name="Google Shape;182;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3" name="Google Shape;18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40"/>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85" name="Google Shape;185;p40"/>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86" name="Google Shape;186;p40"/>
          <p:cNvSpPr txBox="1"/>
          <p:nvPr>
            <p:ph type="title"/>
          </p:nvPr>
        </p:nvSpPr>
        <p:spPr>
          <a:xfrm>
            <a:off x="0" y="0"/>
            <a:ext cx="6710400" cy="347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41"/>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0" name="Google Shape;190;p4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sp>
        <p:nvSpPr>
          <p:cNvPr id="191" name="Google Shape;191;p41"/>
          <p:cNvSpPr txBox="1"/>
          <p:nvPr>
            <p:ph type="title"/>
          </p:nvPr>
        </p:nvSpPr>
        <p:spPr>
          <a:xfrm>
            <a:off x="0" y="-11550"/>
            <a:ext cx="6677100" cy="4002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2" name="Shape 192"/>
        <p:cNvGrpSpPr/>
        <p:nvPr/>
      </p:nvGrpSpPr>
      <p:grpSpPr>
        <a:xfrm>
          <a:off x="0" y="0"/>
          <a:ext cx="0" cy="0"/>
          <a:chOff x="0" y="0"/>
          <a:chExt cx="0" cy="0"/>
        </a:xfrm>
      </p:grpSpPr>
      <p:sp>
        <p:nvSpPr>
          <p:cNvPr id="193" name="Google Shape;193;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4" name="Google Shape;19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4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196" name="Google Shape;196;p42"/>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197" name="Google Shape;197;p42"/>
          <p:cNvSpPr txBox="1"/>
          <p:nvPr>
            <p:ph type="title"/>
          </p:nvPr>
        </p:nvSpPr>
        <p:spPr>
          <a:xfrm>
            <a:off x="0" y="0"/>
            <a:ext cx="6677100" cy="39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8" name="Shape 198"/>
        <p:cNvGrpSpPr/>
        <p:nvPr/>
      </p:nvGrpSpPr>
      <p:grpSpPr>
        <a:xfrm>
          <a:off x="0" y="0"/>
          <a:ext cx="0" cy="0"/>
          <a:chOff x="0" y="0"/>
          <a:chExt cx="0" cy="0"/>
        </a:xfrm>
      </p:grpSpPr>
      <p:sp>
        <p:nvSpPr>
          <p:cNvPr id="199" name="Google Shape;199;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0" name="Google Shape;20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1" name="Shape 201"/>
        <p:cNvGrpSpPr/>
        <p:nvPr/>
      </p:nvGrpSpPr>
      <p:grpSpPr>
        <a:xfrm>
          <a:off x="0" y="0"/>
          <a:ext cx="0" cy="0"/>
          <a:chOff x="0" y="0"/>
          <a:chExt cx="0" cy="0"/>
        </a:xfrm>
      </p:grpSpPr>
      <p:sp>
        <p:nvSpPr>
          <p:cNvPr id="202" name="Google Shape;202;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4" name="Google Shape;204;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5" name="Google Shape;205;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6" name="Google Shape;20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7" name="Shape 207"/>
        <p:cNvGrpSpPr/>
        <p:nvPr/>
      </p:nvGrpSpPr>
      <p:grpSpPr>
        <a:xfrm>
          <a:off x="0" y="0"/>
          <a:ext cx="0" cy="0"/>
          <a:chOff x="0" y="0"/>
          <a:chExt cx="0" cy="0"/>
        </a:xfrm>
      </p:grpSpPr>
      <p:sp>
        <p:nvSpPr>
          <p:cNvPr id="208" name="Google Shape;20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45"/>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90"/>
              <a:buFont typeface="Arial"/>
              <a:buNone/>
            </a:pPr>
            <a:r>
              <a:t/>
            </a:r>
            <a:endParaRPr b="1" i="0" sz="1820" u="none" cap="none" strike="noStrike">
              <a:solidFill>
                <a:srgbClr val="000000"/>
              </a:solidFill>
              <a:highlight>
                <a:srgbClr val="D5C1AD"/>
              </a:highlight>
              <a:latin typeface="Arial"/>
              <a:ea typeface="Arial"/>
              <a:cs typeface="Arial"/>
              <a:sym typeface="Arial"/>
            </a:endParaRPr>
          </a:p>
        </p:txBody>
      </p:sp>
      <p:pic>
        <p:nvPicPr>
          <p:cNvPr id="210" name="Google Shape;210;p45"/>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
        <p:nvSpPr>
          <p:cNvPr id="211" name="Google Shape;211;p45"/>
          <p:cNvSpPr txBox="1"/>
          <p:nvPr>
            <p:ph idx="1" type="body"/>
          </p:nvPr>
        </p:nvSpPr>
        <p:spPr>
          <a:xfrm>
            <a:off x="0" y="0"/>
            <a:ext cx="6677100" cy="347700"/>
          </a:xfrm>
          <a:prstGeom prst="rect">
            <a:avLst/>
          </a:prstGeom>
          <a:noFill/>
          <a:ln>
            <a:noFill/>
          </a:ln>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2" name="Shape 212"/>
        <p:cNvGrpSpPr/>
        <p:nvPr/>
      </p:nvGrpSpPr>
      <p:grpSpPr>
        <a:xfrm>
          <a:off x="0" y="0"/>
          <a:ext cx="0" cy="0"/>
          <a:chOff x="0" y="0"/>
          <a:chExt cx="0" cy="0"/>
        </a:xfrm>
      </p:grpSpPr>
      <p:sp>
        <p:nvSpPr>
          <p:cNvPr id="213" name="Google Shape;213;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14" name="Google Shape;214;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15" name="Google Shape;21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6" name="Google Shape;216;p46"/>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9" name="Google Shape;219;p47"/>
          <p:cNvPicPr preferRelativeResize="0"/>
          <p:nvPr/>
        </p:nvPicPr>
        <p:blipFill rotWithShape="1">
          <a:blip r:embed="rId2">
            <a:alphaModFix/>
          </a:blip>
          <a:srcRect b="0" l="0" r="0" t="0"/>
          <a:stretch/>
        </p:blipFill>
        <p:spPr>
          <a:xfrm>
            <a:off x="7271125" y="-57150"/>
            <a:ext cx="1773200" cy="585501"/>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5" name="Shape 225"/>
        <p:cNvGrpSpPr/>
        <p:nvPr/>
      </p:nvGrpSpPr>
      <p:grpSpPr>
        <a:xfrm>
          <a:off x="0" y="0"/>
          <a:ext cx="0" cy="0"/>
          <a:chOff x="0" y="0"/>
          <a:chExt cx="0" cy="0"/>
        </a:xfrm>
      </p:grpSpPr>
      <p:sp>
        <p:nvSpPr>
          <p:cNvPr id="226" name="Google Shape;226;p4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7" name="Google Shape;227;p4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8" name="Google Shape;2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9" name="Shape 229"/>
        <p:cNvGrpSpPr/>
        <p:nvPr/>
      </p:nvGrpSpPr>
      <p:grpSpPr>
        <a:xfrm>
          <a:off x="0" y="0"/>
          <a:ext cx="0" cy="0"/>
          <a:chOff x="0" y="0"/>
          <a:chExt cx="0" cy="0"/>
        </a:xfrm>
      </p:grpSpPr>
      <p:sp>
        <p:nvSpPr>
          <p:cNvPr id="230" name="Google Shape;230;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1" name="Google Shape;23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2" name="Shape 232"/>
        <p:cNvGrpSpPr/>
        <p:nvPr/>
      </p:nvGrpSpPr>
      <p:grpSpPr>
        <a:xfrm>
          <a:off x="0" y="0"/>
          <a:ext cx="0" cy="0"/>
          <a:chOff x="0" y="0"/>
          <a:chExt cx="0" cy="0"/>
        </a:xfrm>
      </p:grpSpPr>
      <p:sp>
        <p:nvSpPr>
          <p:cNvPr id="233" name="Google Shape;233;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4" name="Google Shape;23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51"/>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36" name="Google Shape;236;p51"/>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37" name="Google Shape;237;p51"/>
          <p:cNvSpPr txBox="1"/>
          <p:nvPr>
            <p:ph type="title"/>
          </p:nvPr>
        </p:nvSpPr>
        <p:spPr>
          <a:xfrm>
            <a:off x="24450" y="0"/>
            <a:ext cx="6628200" cy="377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8" name="Shape 238"/>
        <p:cNvGrpSpPr/>
        <p:nvPr/>
      </p:nvGrpSpPr>
      <p:grpSpPr>
        <a:xfrm>
          <a:off x="0" y="0"/>
          <a:ext cx="0" cy="0"/>
          <a:chOff x="0" y="0"/>
          <a:chExt cx="0" cy="0"/>
        </a:xfrm>
      </p:grpSpPr>
      <p:sp>
        <p:nvSpPr>
          <p:cNvPr id="239" name="Google Shape;239;p5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0" name="Google Shape;240;p5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1" name="Google Shape;24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2" name="Google Shape;242;p52"/>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43" name="Google Shape;243;p52"/>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4" name="Google Shape;244;p52"/>
          <p:cNvSpPr txBox="1"/>
          <p:nvPr>
            <p:ph type="title"/>
          </p:nvPr>
        </p:nvSpPr>
        <p:spPr>
          <a:xfrm>
            <a:off x="0" y="0"/>
            <a:ext cx="6710400" cy="3477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7" name="Google Shape;247;p53"/>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48" name="Google Shape;248;p53"/>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sp>
        <p:nvSpPr>
          <p:cNvPr id="249" name="Google Shape;249;p53"/>
          <p:cNvSpPr txBox="1"/>
          <p:nvPr>
            <p:ph type="title"/>
          </p:nvPr>
        </p:nvSpPr>
        <p:spPr>
          <a:xfrm>
            <a:off x="0" y="-11550"/>
            <a:ext cx="6677100" cy="400200"/>
          </a:xfrm>
          <a:prstGeom prst="rect">
            <a:avLst/>
          </a:prstGeom>
        </p:spPr>
        <p:txBody>
          <a:bodyPr anchorCtr="0" anchor="t"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sp>
        <p:nvSpPr>
          <p:cNvPr id="251" name="Google Shape;251;p54"/>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2" name="Google Shape;252;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54"/>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54" name="Google Shape;254;p54"/>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55" name="Google Shape;255;p54"/>
          <p:cNvSpPr txBox="1"/>
          <p:nvPr>
            <p:ph type="title"/>
          </p:nvPr>
        </p:nvSpPr>
        <p:spPr>
          <a:xfrm>
            <a:off x="0" y="0"/>
            <a:ext cx="6677100" cy="39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800"/>
              <a:buNone/>
              <a:defRPr b="1" sz="1800"/>
            </a:lvl1pPr>
            <a:lvl2pPr lvl="1" algn="ctr">
              <a:spcBef>
                <a:spcPts val="0"/>
              </a:spcBef>
              <a:spcAft>
                <a:spcPts val="0"/>
              </a:spcAft>
              <a:buSzPts val="1800"/>
              <a:buNone/>
              <a:defRPr b="1" sz="1800"/>
            </a:lvl2pPr>
            <a:lvl3pPr lvl="2" algn="ctr">
              <a:spcBef>
                <a:spcPts val="0"/>
              </a:spcBef>
              <a:spcAft>
                <a:spcPts val="0"/>
              </a:spcAft>
              <a:buSzPts val="1800"/>
              <a:buNone/>
              <a:defRPr b="1" sz="1800"/>
            </a:lvl3pPr>
            <a:lvl4pPr lvl="3" algn="ctr">
              <a:spcBef>
                <a:spcPts val="0"/>
              </a:spcBef>
              <a:spcAft>
                <a:spcPts val="0"/>
              </a:spcAft>
              <a:buSzPts val="1800"/>
              <a:buNone/>
              <a:defRPr b="1" sz="1800"/>
            </a:lvl4pPr>
            <a:lvl5pPr lvl="4" algn="ctr">
              <a:spcBef>
                <a:spcPts val="0"/>
              </a:spcBef>
              <a:spcAft>
                <a:spcPts val="0"/>
              </a:spcAft>
              <a:buSzPts val="1800"/>
              <a:buNone/>
              <a:defRPr b="1" sz="1800"/>
            </a:lvl5pPr>
            <a:lvl6pPr lvl="5" algn="ctr">
              <a:spcBef>
                <a:spcPts val="0"/>
              </a:spcBef>
              <a:spcAft>
                <a:spcPts val="0"/>
              </a:spcAft>
              <a:buSzPts val="1800"/>
              <a:buNone/>
              <a:defRPr b="1" sz="1800"/>
            </a:lvl6pPr>
            <a:lvl7pPr lvl="6" algn="ctr">
              <a:spcBef>
                <a:spcPts val="0"/>
              </a:spcBef>
              <a:spcAft>
                <a:spcPts val="0"/>
              </a:spcAft>
              <a:buSzPts val="1800"/>
              <a:buNone/>
              <a:defRPr b="1" sz="1800"/>
            </a:lvl7pPr>
            <a:lvl8pPr lvl="7" algn="ctr">
              <a:spcBef>
                <a:spcPts val="0"/>
              </a:spcBef>
              <a:spcAft>
                <a:spcPts val="0"/>
              </a:spcAft>
              <a:buSzPts val="1800"/>
              <a:buNone/>
              <a:defRPr b="1" sz="1800"/>
            </a:lvl8pPr>
            <a:lvl9pPr lvl="8" algn="ctr">
              <a:spcBef>
                <a:spcPts val="0"/>
              </a:spcBef>
              <a:spcAft>
                <a:spcPts val="0"/>
              </a:spcAft>
              <a:buSzPts val="1800"/>
              <a:buNone/>
              <a:defRPr b="1"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6" name="Shape 256"/>
        <p:cNvGrpSpPr/>
        <p:nvPr/>
      </p:nvGrpSpPr>
      <p:grpSpPr>
        <a:xfrm>
          <a:off x="0" y="0"/>
          <a:ext cx="0" cy="0"/>
          <a:chOff x="0" y="0"/>
          <a:chExt cx="0" cy="0"/>
        </a:xfrm>
      </p:grpSpPr>
      <p:sp>
        <p:nvSpPr>
          <p:cNvPr id="257" name="Google Shape;257;p5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58" name="Google Shape;25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9" name="Shape 259"/>
        <p:cNvGrpSpPr/>
        <p:nvPr/>
      </p:nvGrpSpPr>
      <p:grpSpPr>
        <a:xfrm>
          <a:off x="0" y="0"/>
          <a:ext cx="0" cy="0"/>
          <a:chOff x="0" y="0"/>
          <a:chExt cx="0" cy="0"/>
        </a:xfrm>
      </p:grpSpPr>
      <p:sp>
        <p:nvSpPr>
          <p:cNvPr id="260" name="Google Shape;260;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2" name="Google Shape;262;p5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3" name="Google Shape;263;p5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5" name="Shape 265"/>
        <p:cNvGrpSpPr/>
        <p:nvPr/>
      </p:nvGrpSpPr>
      <p:grpSpPr>
        <a:xfrm>
          <a:off x="0" y="0"/>
          <a:ext cx="0" cy="0"/>
          <a:chOff x="0" y="0"/>
          <a:chExt cx="0" cy="0"/>
        </a:xfrm>
      </p:grpSpPr>
      <p:sp>
        <p:nvSpPr>
          <p:cNvPr id="266" name="Google Shape;26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57"/>
          <p:cNvSpPr txBox="1"/>
          <p:nvPr/>
        </p:nvSpPr>
        <p:spPr>
          <a:xfrm>
            <a:off x="0" y="0"/>
            <a:ext cx="6677100" cy="377100"/>
          </a:xfrm>
          <a:prstGeom prst="rect">
            <a:avLst/>
          </a:prstGeom>
          <a:solidFill>
            <a:srgbClr val="D5C1AD"/>
          </a:solidFill>
          <a:ln>
            <a:noFill/>
          </a:ln>
        </p:spPr>
        <p:txBody>
          <a:bodyPr anchorCtr="0" anchor="ctr" bIns="91425" lIns="91425" spcFirstLastPara="1" rIns="91425" wrap="square" tIns="91425">
            <a:noAutofit/>
          </a:bodyPr>
          <a:lstStyle/>
          <a:p>
            <a:pPr indent="0" lvl="0" marL="0" rtl="0" algn="ctr">
              <a:spcBef>
                <a:spcPts val="0"/>
              </a:spcBef>
              <a:spcAft>
                <a:spcPts val="0"/>
              </a:spcAft>
              <a:buSzPts val="990"/>
              <a:buNone/>
            </a:pPr>
            <a:r>
              <a:t/>
            </a:r>
            <a:endParaRPr b="1" sz="1820">
              <a:highlight>
                <a:srgbClr val="D5C1AD"/>
              </a:highlight>
            </a:endParaRPr>
          </a:p>
        </p:txBody>
      </p:sp>
      <p:pic>
        <p:nvPicPr>
          <p:cNvPr id="268" name="Google Shape;268;p57"/>
          <p:cNvPicPr preferRelativeResize="0"/>
          <p:nvPr/>
        </p:nvPicPr>
        <p:blipFill>
          <a:blip r:embed="rId2">
            <a:alphaModFix/>
          </a:blip>
          <a:stretch>
            <a:fillRect/>
          </a:stretch>
        </p:blipFill>
        <p:spPr>
          <a:xfrm>
            <a:off x="7271125" y="-57150"/>
            <a:ext cx="1773200" cy="585500"/>
          </a:xfrm>
          <a:prstGeom prst="rect">
            <a:avLst/>
          </a:prstGeom>
          <a:noFill/>
          <a:ln>
            <a:noFill/>
          </a:ln>
        </p:spPr>
      </p:pic>
      <p:sp>
        <p:nvSpPr>
          <p:cNvPr id="269" name="Google Shape;269;p57"/>
          <p:cNvSpPr txBox="1"/>
          <p:nvPr>
            <p:ph idx="1" type="body"/>
          </p:nvPr>
        </p:nvSpPr>
        <p:spPr>
          <a:xfrm>
            <a:off x="0" y="0"/>
            <a:ext cx="6677100" cy="347700"/>
          </a:xfrm>
          <a:prstGeom prst="rect">
            <a:avLst/>
          </a:prstGeom>
        </p:spPr>
        <p:txBody>
          <a:bodyPr anchorCtr="0" anchor="ctr" bIns="91425" lIns="91425" spcFirstLastPara="1" rIns="91425" wrap="square" tIns="91425">
            <a:normAutofit/>
          </a:bodyPr>
          <a:lstStyle>
            <a:lvl1pPr indent="-228600" lvl="0" marL="457200" algn="ctr">
              <a:lnSpc>
                <a:spcPct val="100000"/>
              </a:lnSpc>
              <a:spcBef>
                <a:spcPts val="0"/>
              </a:spcBef>
              <a:spcAft>
                <a:spcPts val="0"/>
              </a:spcAft>
              <a:buSzPts val="1800"/>
              <a:buNone/>
              <a:defRPr b="1"/>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0" name="Shape 270"/>
        <p:cNvGrpSpPr/>
        <p:nvPr/>
      </p:nvGrpSpPr>
      <p:grpSpPr>
        <a:xfrm>
          <a:off x="0" y="0"/>
          <a:ext cx="0" cy="0"/>
          <a:chOff x="0" y="0"/>
          <a:chExt cx="0" cy="0"/>
        </a:xfrm>
      </p:grpSpPr>
      <p:sp>
        <p:nvSpPr>
          <p:cNvPr id="271" name="Google Shape;271;p5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2" name="Google Shape;272;p5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73" name="Google Shape;273;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4" name="Google Shape;274;p58"/>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77" name="Google Shape;277;p59"/>
          <p:cNvPicPr preferRelativeResize="0"/>
          <p:nvPr/>
        </p:nvPicPr>
        <p:blipFill>
          <a:blip r:embed="rId2">
            <a:alphaModFix/>
          </a:blip>
          <a:stretch>
            <a:fillRect/>
          </a:stretch>
        </p:blipFill>
        <p:spPr>
          <a:xfrm>
            <a:off x="7271125" y="-57150"/>
            <a:ext cx="1773200" cy="585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theme" Target="../theme/theme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8" name="Shape 108"/>
        <p:cNvGrpSpPr/>
        <p:nvPr/>
      </p:nvGrpSpPr>
      <p:grpSpPr>
        <a:xfrm>
          <a:off x="0" y="0"/>
          <a:ext cx="0" cy="0"/>
          <a:chOff x="0" y="0"/>
          <a:chExt cx="0" cy="0"/>
        </a:xfrm>
      </p:grpSpPr>
      <p:sp>
        <p:nvSpPr>
          <p:cNvPr id="109" name="Google Shape;10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0" name="Google Shape;11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11" name="Google Shape;111;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5"/>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6" name="Shape 166"/>
        <p:cNvGrpSpPr/>
        <p:nvPr/>
      </p:nvGrpSpPr>
      <p:grpSpPr>
        <a:xfrm>
          <a:off x="0" y="0"/>
          <a:ext cx="0" cy="0"/>
          <a:chOff x="0" y="0"/>
          <a:chExt cx="0" cy="0"/>
        </a:xfrm>
      </p:grpSpPr>
      <p:sp>
        <p:nvSpPr>
          <p:cNvPr id="167" name="Google Shape;167;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1pPr>
            <a:lvl2pPr lvl="1"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2pPr>
            <a:lvl3pPr lvl="2"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3pPr>
            <a:lvl4pPr lvl="3"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4pPr>
            <a:lvl5pPr lvl="4"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5pPr>
            <a:lvl6pPr lvl="5"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6pPr>
            <a:lvl7pPr lvl="6"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7pPr>
            <a:lvl8pPr lvl="7"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8pPr>
            <a:lvl9pPr lvl="8" marR="0" algn="l">
              <a:lnSpc>
                <a:spcPct val="100000"/>
              </a:lnSpc>
              <a:spcBef>
                <a:spcPts val="0"/>
              </a:spcBef>
              <a:spcAft>
                <a:spcPts val="0"/>
              </a:spcAft>
              <a:buClr>
                <a:schemeClr val="dk1"/>
              </a:buClr>
              <a:buSzPts val="2800"/>
              <a:buFont typeface="Roboto"/>
              <a:buNone/>
              <a:defRPr b="0" i="0" sz="2800" u="none" cap="none" strike="noStrike">
                <a:solidFill>
                  <a:schemeClr val="dk1"/>
                </a:solidFill>
                <a:latin typeface="Roboto"/>
                <a:ea typeface="Roboto"/>
                <a:cs typeface="Roboto"/>
                <a:sym typeface="Roboto"/>
              </a:defRPr>
            </a:lvl9pPr>
          </a:lstStyle>
          <a:p/>
        </p:txBody>
      </p:sp>
      <p:sp>
        <p:nvSpPr>
          <p:cNvPr id="168" name="Google Shape;168;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169" name="Google Shape;16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37"/>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35"/>
              <a:buFont typeface="Arial"/>
              <a:buNone/>
            </a:pPr>
            <a:r>
              <a:rPr b="1" i="0" lang="en" sz="980" u="none" cap="none" strike="noStrike">
                <a:solidFill>
                  <a:schemeClr val="lt1"/>
                </a:solidFill>
                <a:latin typeface="Arial"/>
                <a:ea typeface="Arial"/>
                <a:cs typeface="Arial"/>
                <a:sym typeface="Arial"/>
              </a:rPr>
              <a:t>Strategic Thinking                                                                             Strategic Execution                                                                       Strategic Analysis</a:t>
            </a:r>
            <a:endParaRPr b="1" i="0" sz="98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0" name="Shape 220"/>
        <p:cNvGrpSpPr/>
        <p:nvPr/>
      </p:nvGrpSpPr>
      <p:grpSpPr>
        <a:xfrm>
          <a:off x="0" y="0"/>
          <a:ext cx="0" cy="0"/>
          <a:chOff x="0" y="0"/>
          <a:chExt cx="0" cy="0"/>
        </a:xfrm>
      </p:grpSpPr>
      <p:sp>
        <p:nvSpPr>
          <p:cNvPr id="221" name="Google Shape;22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222" name="Google Shape;22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223" name="Google Shape;22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48"/>
          <p:cNvSpPr txBox="1"/>
          <p:nvPr/>
        </p:nvSpPr>
        <p:spPr>
          <a:xfrm>
            <a:off x="0" y="4800000"/>
            <a:ext cx="9144000" cy="3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9.png"/><Relationship Id="rId5" Type="http://schemas.openxmlformats.org/officeDocument/2006/relationships/image" Target="../media/image43.png"/><Relationship Id="rId6" Type="http://schemas.openxmlformats.org/officeDocument/2006/relationships/image" Target="../media/image10.jpg"/><Relationship Id="rId7" Type="http://schemas.openxmlformats.org/officeDocument/2006/relationships/image" Target="../media/image8.jpg"/><Relationship Id="rId8" Type="http://schemas.openxmlformats.org/officeDocument/2006/relationships/image" Target="../media/image13.jpg"/><Relationship Id="rId9" Type="http://schemas.openxmlformats.org/officeDocument/2006/relationships/image" Target="../media/image17.jpg"/><Relationship Id="rId10" Type="http://schemas.openxmlformats.org/officeDocument/2006/relationships/image" Target="../media/image26.jpg"/><Relationship Id="rId11"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46.jpg"/><Relationship Id="rId4" Type="http://schemas.openxmlformats.org/officeDocument/2006/relationships/image" Target="../media/image16.jpg"/><Relationship Id="rId5" Type="http://schemas.openxmlformats.org/officeDocument/2006/relationships/image" Target="../media/image7.jpg"/><Relationship Id="rId6" Type="http://schemas.openxmlformats.org/officeDocument/2006/relationships/image" Target="../media/image11.jpg"/><Relationship Id="rId7" Type="http://schemas.openxmlformats.org/officeDocument/2006/relationships/image" Target="../media/image9.jpg"/><Relationship Id="rId8" Type="http://schemas.openxmlformats.org/officeDocument/2006/relationships/image" Target="../media/image14.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 Id="rId3"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hyperlink" Target="https://docs.google.com/spreadsheets/d/1DRnJ1DqsQ0ud6RRY5h8-ekcqkq1KnNB_pRBkVCMBdlc/edit?gid=0#gid=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hyperlink" Target="http://zoomers.com" TargetMode="External"/><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60"/>
          <p:cNvPicPr preferRelativeResize="0"/>
          <p:nvPr/>
        </p:nvPicPr>
        <p:blipFill>
          <a:blip r:embed="rId3">
            <a:alphaModFix/>
          </a:blip>
          <a:stretch>
            <a:fillRect/>
          </a:stretch>
        </p:blipFill>
        <p:spPr>
          <a:xfrm>
            <a:off x="2283350" y="399563"/>
            <a:ext cx="4445998" cy="1468024"/>
          </a:xfrm>
          <a:prstGeom prst="rect">
            <a:avLst/>
          </a:prstGeom>
          <a:noFill/>
          <a:ln>
            <a:noFill/>
          </a:ln>
        </p:spPr>
      </p:pic>
      <p:sp>
        <p:nvSpPr>
          <p:cNvPr id="283" name="Google Shape;283;p60"/>
          <p:cNvSpPr txBox="1"/>
          <p:nvPr>
            <p:ph idx="1" type="subTitle"/>
          </p:nvPr>
        </p:nvSpPr>
        <p:spPr>
          <a:xfrm>
            <a:off x="0" y="4800000"/>
            <a:ext cx="9144000" cy="343500"/>
          </a:xfrm>
          <a:prstGeom prst="rect">
            <a:avLst/>
          </a:prstGeom>
          <a:solidFill>
            <a:srgbClr val="073763"/>
          </a:solidFill>
        </p:spPr>
        <p:txBody>
          <a:bodyPr anchorCtr="0" anchor="t" bIns="91425" lIns="91425" spcFirstLastPara="1" rIns="91425" wrap="square" tIns="91425">
            <a:normAutofit/>
          </a:bodyPr>
          <a:lstStyle/>
          <a:p>
            <a:pPr indent="0" lvl="0" marL="0" rtl="0" algn="l">
              <a:spcBef>
                <a:spcPts val="0"/>
              </a:spcBef>
              <a:spcAft>
                <a:spcPts val="0"/>
              </a:spcAft>
              <a:buSzPts val="935"/>
              <a:buNone/>
            </a:pPr>
            <a:r>
              <a:rPr b="1" lang="en" sz="980">
                <a:solidFill>
                  <a:schemeClr val="lt1"/>
                </a:solidFill>
              </a:rPr>
              <a:t>Strategic Thinking                                                                             Strategic Execution                                                                       Strategic Analysis</a:t>
            </a:r>
            <a:endParaRPr b="1" sz="980">
              <a:solidFill>
                <a:schemeClr val="lt1"/>
              </a:solidFill>
            </a:endParaRPr>
          </a:p>
        </p:txBody>
      </p:sp>
      <p:sp>
        <p:nvSpPr>
          <p:cNvPr id="284" name="Google Shape;284;p60"/>
          <p:cNvSpPr txBox="1"/>
          <p:nvPr/>
        </p:nvSpPr>
        <p:spPr>
          <a:xfrm>
            <a:off x="728900" y="2160100"/>
            <a:ext cx="7687200" cy="9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600">
                <a:solidFill>
                  <a:schemeClr val="dk1"/>
                </a:solidFill>
                <a:latin typeface="Raleway"/>
                <a:ea typeface="Raleway"/>
                <a:cs typeface="Raleway"/>
                <a:sym typeface="Raleway"/>
              </a:rPr>
              <a:t>Zoomers Meeting</a:t>
            </a:r>
            <a:endParaRPr b="1" sz="4600">
              <a:solidFill>
                <a:schemeClr val="dk1"/>
              </a:solidFill>
              <a:latin typeface="Raleway"/>
              <a:ea typeface="Raleway"/>
              <a:cs typeface="Raleway"/>
              <a:sym typeface="Raleway"/>
            </a:endParaRPr>
          </a:p>
          <a:p>
            <a:pPr indent="0" lvl="0" marL="0" rtl="0" algn="ctr">
              <a:spcBef>
                <a:spcPts val="0"/>
              </a:spcBef>
              <a:spcAft>
                <a:spcPts val="0"/>
              </a:spcAft>
              <a:buNone/>
            </a:pPr>
            <a:r>
              <a:rPr b="1" lang="en" sz="4600">
                <a:solidFill>
                  <a:schemeClr val="dk1"/>
                </a:solidFill>
                <a:latin typeface="Raleway"/>
                <a:ea typeface="Raleway"/>
                <a:cs typeface="Raleway"/>
                <a:sym typeface="Raleway"/>
              </a:rPr>
              <a:t>April 2026</a:t>
            </a:r>
            <a:endParaRPr b="1" sz="4600">
              <a:solidFill>
                <a:schemeClr val="dk1"/>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61"/>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Sales View</a:t>
            </a:r>
            <a:endParaRPr/>
          </a:p>
        </p:txBody>
      </p:sp>
      <p:grpSp>
        <p:nvGrpSpPr>
          <p:cNvPr id="290" name="Google Shape;290;p61"/>
          <p:cNvGrpSpPr/>
          <p:nvPr/>
        </p:nvGrpSpPr>
        <p:grpSpPr>
          <a:xfrm>
            <a:off x="2500000" y="377100"/>
            <a:ext cx="4365715" cy="4654381"/>
            <a:chOff x="49650" y="377100"/>
            <a:chExt cx="4428601" cy="4721425"/>
          </a:xfrm>
        </p:grpSpPr>
        <p:sp>
          <p:nvSpPr>
            <p:cNvPr id="291" name="Google Shape;291;p61"/>
            <p:cNvSpPr/>
            <p:nvPr/>
          </p:nvSpPr>
          <p:spPr>
            <a:xfrm>
              <a:off x="49650" y="1310700"/>
              <a:ext cx="4428600" cy="3783300"/>
            </a:xfrm>
            <a:prstGeom prst="rect">
              <a:avLst/>
            </a:prstGeom>
            <a:solidFill>
              <a:srgbClr val="FFFFFF"/>
            </a:solidFill>
            <a:ln>
              <a:noFill/>
            </a:ln>
          </p:spPr>
          <p:txBody>
            <a:bodyPr anchorCtr="0" anchor="ctr" bIns="90125" lIns="90125" spcFirstLastPara="1" rIns="90125" wrap="square" tIns="90125">
              <a:noAutofit/>
            </a:bodyPr>
            <a:lstStyle/>
            <a:p>
              <a:pPr indent="0" lvl="0" marL="0" rtl="0" algn="ctr">
                <a:spcBef>
                  <a:spcPts val="0"/>
                </a:spcBef>
                <a:spcAft>
                  <a:spcPts val="0"/>
                </a:spcAft>
                <a:buNone/>
              </a:pPr>
              <a:r>
                <a:t/>
              </a:r>
              <a:endParaRPr sz="1380">
                <a:latin typeface="Roboto"/>
                <a:ea typeface="Roboto"/>
                <a:cs typeface="Roboto"/>
                <a:sym typeface="Roboto"/>
              </a:endParaRPr>
            </a:p>
          </p:txBody>
        </p:sp>
        <p:pic>
          <p:nvPicPr>
            <p:cNvPr id="292" name="Google Shape;292;p61"/>
            <p:cNvPicPr preferRelativeResize="0"/>
            <p:nvPr/>
          </p:nvPicPr>
          <p:blipFill rotWithShape="1">
            <a:blip r:embed="rId3">
              <a:alphaModFix/>
            </a:blip>
            <a:srcRect b="3410" l="0" r="8509" t="0"/>
            <a:stretch/>
          </p:blipFill>
          <p:spPr>
            <a:xfrm>
              <a:off x="49650" y="377100"/>
              <a:ext cx="4428601" cy="4721425"/>
            </a:xfrm>
            <a:prstGeom prst="rect">
              <a:avLst/>
            </a:prstGeom>
            <a:noFill/>
            <a:ln>
              <a:noFill/>
            </a:ln>
          </p:spPr>
        </p:pic>
      </p:grpSp>
      <p:sp>
        <p:nvSpPr>
          <p:cNvPr id="293" name="Google Shape;293;p61"/>
          <p:cNvSpPr txBox="1"/>
          <p:nvPr/>
        </p:nvSpPr>
        <p:spPr>
          <a:xfrm>
            <a:off x="7029300" y="1124400"/>
            <a:ext cx="2114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34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44 Sales</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March 2025</a:t>
            </a:r>
            <a:endParaRPr sz="1000">
              <a:solidFill>
                <a:schemeClr val="dk2"/>
              </a:solidFill>
              <a:latin typeface="Roboto"/>
              <a:ea typeface="Roboto"/>
              <a:cs typeface="Roboto"/>
              <a:sym typeface="Roboto"/>
            </a:endParaRPr>
          </a:p>
          <a:p>
            <a:pPr indent="0" lvl="0" marL="0" rtl="0" algn="l">
              <a:spcBef>
                <a:spcPts val="0"/>
              </a:spcBef>
              <a:spcAft>
                <a:spcPts val="0"/>
              </a:spcAft>
              <a:buNone/>
            </a:pPr>
            <a:r>
              <a:t/>
            </a:r>
            <a:endParaRPr sz="1000">
              <a:solidFill>
                <a:schemeClr val="dk2"/>
              </a:solidFill>
              <a:latin typeface="Roboto"/>
              <a:ea typeface="Roboto"/>
              <a:cs typeface="Roboto"/>
              <a:sym typeface="Roboto"/>
            </a:endParaRPr>
          </a:p>
          <a:p>
            <a:pPr indent="0" lvl="0" marL="0" rtl="0" algn="l">
              <a:spcBef>
                <a:spcPts val="0"/>
              </a:spcBef>
              <a:spcAft>
                <a:spcPts val="0"/>
              </a:spcAft>
              <a:buNone/>
            </a:pPr>
            <a:r>
              <a:rPr lang="en" sz="1000">
                <a:solidFill>
                  <a:schemeClr val="dk2"/>
                </a:solidFill>
                <a:latin typeface="Roboto"/>
                <a:ea typeface="Roboto"/>
                <a:cs typeface="Roboto"/>
                <a:sym typeface="Roboto"/>
              </a:rPr>
              <a:t>95 Sales</a:t>
            </a:r>
            <a:endParaRPr sz="10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297" name="Shape 297"/>
        <p:cNvGrpSpPr/>
        <p:nvPr/>
      </p:nvGrpSpPr>
      <p:grpSpPr>
        <a:xfrm>
          <a:off x="0" y="0"/>
          <a:ext cx="0" cy="0"/>
          <a:chOff x="0" y="0"/>
          <a:chExt cx="0" cy="0"/>
        </a:xfrm>
      </p:grpSpPr>
      <p:sp>
        <p:nvSpPr>
          <p:cNvPr id="298" name="Google Shape;298;p62"/>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March Creative</a:t>
            </a:r>
            <a:endParaRPr sz="4800">
              <a:solidFill>
                <a:schemeClr val="lt1"/>
              </a:solidFill>
            </a:endParaRPr>
          </a:p>
        </p:txBody>
      </p:sp>
      <p:sp>
        <p:nvSpPr>
          <p:cNvPr id="299" name="Google Shape;299;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62"/>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01" name="Google Shape;301;p62"/>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Web Banners + Display</a:t>
            </a:r>
            <a:endParaRPr/>
          </a:p>
        </p:txBody>
      </p:sp>
      <p:pic>
        <p:nvPicPr>
          <p:cNvPr id="307" name="Google Shape;307;p63"/>
          <p:cNvPicPr preferRelativeResize="0"/>
          <p:nvPr/>
        </p:nvPicPr>
        <p:blipFill>
          <a:blip r:embed="rId3">
            <a:alphaModFix/>
          </a:blip>
          <a:stretch>
            <a:fillRect/>
          </a:stretch>
        </p:blipFill>
        <p:spPr>
          <a:xfrm>
            <a:off x="88425" y="505850"/>
            <a:ext cx="3210949" cy="735230"/>
          </a:xfrm>
          <a:prstGeom prst="rect">
            <a:avLst/>
          </a:prstGeom>
          <a:noFill/>
          <a:ln>
            <a:noFill/>
          </a:ln>
        </p:spPr>
      </p:pic>
      <p:pic>
        <p:nvPicPr>
          <p:cNvPr id="308" name="Google Shape;308;p63"/>
          <p:cNvPicPr preferRelativeResize="0"/>
          <p:nvPr/>
        </p:nvPicPr>
        <p:blipFill>
          <a:blip r:embed="rId4">
            <a:alphaModFix/>
          </a:blip>
          <a:stretch>
            <a:fillRect/>
          </a:stretch>
        </p:blipFill>
        <p:spPr>
          <a:xfrm>
            <a:off x="3377796" y="505847"/>
            <a:ext cx="3210889" cy="735230"/>
          </a:xfrm>
          <a:prstGeom prst="rect">
            <a:avLst/>
          </a:prstGeom>
          <a:noFill/>
          <a:ln>
            <a:noFill/>
          </a:ln>
        </p:spPr>
      </p:pic>
      <p:pic>
        <p:nvPicPr>
          <p:cNvPr id="309" name="Google Shape;309;p63"/>
          <p:cNvPicPr preferRelativeResize="0"/>
          <p:nvPr/>
        </p:nvPicPr>
        <p:blipFill>
          <a:blip r:embed="rId5">
            <a:alphaModFix/>
          </a:blip>
          <a:stretch>
            <a:fillRect/>
          </a:stretch>
        </p:blipFill>
        <p:spPr>
          <a:xfrm>
            <a:off x="88457" y="1305869"/>
            <a:ext cx="3210886" cy="735228"/>
          </a:xfrm>
          <a:prstGeom prst="rect">
            <a:avLst/>
          </a:prstGeom>
          <a:noFill/>
          <a:ln>
            <a:noFill/>
          </a:ln>
        </p:spPr>
      </p:pic>
      <p:pic>
        <p:nvPicPr>
          <p:cNvPr id="310" name="Google Shape;310;p63"/>
          <p:cNvPicPr preferRelativeResize="0"/>
          <p:nvPr/>
        </p:nvPicPr>
        <p:blipFill>
          <a:blip r:embed="rId6">
            <a:alphaModFix/>
          </a:blip>
          <a:stretch>
            <a:fillRect/>
          </a:stretch>
        </p:blipFill>
        <p:spPr>
          <a:xfrm>
            <a:off x="4645925" y="3162500"/>
            <a:ext cx="1467125" cy="1467125"/>
          </a:xfrm>
          <a:prstGeom prst="rect">
            <a:avLst/>
          </a:prstGeom>
          <a:noFill/>
          <a:ln>
            <a:noFill/>
          </a:ln>
        </p:spPr>
      </p:pic>
      <p:pic>
        <p:nvPicPr>
          <p:cNvPr id="311" name="Google Shape;311;p63"/>
          <p:cNvPicPr preferRelativeResize="0"/>
          <p:nvPr/>
        </p:nvPicPr>
        <p:blipFill>
          <a:blip r:embed="rId7">
            <a:alphaModFix/>
          </a:blip>
          <a:stretch>
            <a:fillRect/>
          </a:stretch>
        </p:blipFill>
        <p:spPr>
          <a:xfrm>
            <a:off x="6159625" y="3162499"/>
            <a:ext cx="2801326" cy="1467125"/>
          </a:xfrm>
          <a:prstGeom prst="rect">
            <a:avLst/>
          </a:prstGeom>
          <a:noFill/>
          <a:ln>
            <a:noFill/>
          </a:ln>
        </p:spPr>
      </p:pic>
      <p:pic>
        <p:nvPicPr>
          <p:cNvPr id="312" name="Google Shape;312;p63"/>
          <p:cNvPicPr preferRelativeResize="0"/>
          <p:nvPr/>
        </p:nvPicPr>
        <p:blipFill>
          <a:blip r:embed="rId8">
            <a:alphaModFix/>
          </a:blip>
          <a:stretch>
            <a:fillRect/>
          </a:stretch>
        </p:blipFill>
        <p:spPr>
          <a:xfrm>
            <a:off x="4645925" y="1602900"/>
            <a:ext cx="1467125" cy="1467125"/>
          </a:xfrm>
          <a:prstGeom prst="rect">
            <a:avLst/>
          </a:prstGeom>
          <a:noFill/>
          <a:ln>
            <a:noFill/>
          </a:ln>
        </p:spPr>
      </p:pic>
      <p:pic>
        <p:nvPicPr>
          <p:cNvPr id="313" name="Google Shape;313;p63"/>
          <p:cNvPicPr preferRelativeResize="0"/>
          <p:nvPr/>
        </p:nvPicPr>
        <p:blipFill>
          <a:blip r:embed="rId9">
            <a:alphaModFix/>
          </a:blip>
          <a:stretch>
            <a:fillRect/>
          </a:stretch>
        </p:blipFill>
        <p:spPr>
          <a:xfrm>
            <a:off x="6159625" y="1602899"/>
            <a:ext cx="2801326" cy="1467136"/>
          </a:xfrm>
          <a:prstGeom prst="rect">
            <a:avLst/>
          </a:prstGeom>
          <a:noFill/>
          <a:ln>
            <a:noFill/>
          </a:ln>
        </p:spPr>
      </p:pic>
      <p:pic>
        <p:nvPicPr>
          <p:cNvPr id="314" name="Google Shape;314;p63"/>
          <p:cNvPicPr preferRelativeResize="0"/>
          <p:nvPr/>
        </p:nvPicPr>
        <p:blipFill>
          <a:blip r:embed="rId10">
            <a:alphaModFix/>
          </a:blip>
          <a:stretch>
            <a:fillRect/>
          </a:stretch>
        </p:blipFill>
        <p:spPr>
          <a:xfrm>
            <a:off x="128750" y="2878925"/>
            <a:ext cx="1467125" cy="1467125"/>
          </a:xfrm>
          <a:prstGeom prst="rect">
            <a:avLst/>
          </a:prstGeom>
          <a:noFill/>
          <a:ln>
            <a:noFill/>
          </a:ln>
        </p:spPr>
      </p:pic>
      <p:pic>
        <p:nvPicPr>
          <p:cNvPr id="315" name="Google Shape;315;p63"/>
          <p:cNvPicPr preferRelativeResize="0"/>
          <p:nvPr/>
        </p:nvPicPr>
        <p:blipFill>
          <a:blip r:embed="rId11">
            <a:alphaModFix/>
          </a:blip>
          <a:stretch>
            <a:fillRect/>
          </a:stretch>
        </p:blipFill>
        <p:spPr>
          <a:xfrm>
            <a:off x="1638350" y="2878925"/>
            <a:ext cx="2801325" cy="14660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Facebook</a:t>
            </a:r>
            <a:endParaRPr/>
          </a:p>
        </p:txBody>
      </p:sp>
      <p:pic>
        <p:nvPicPr>
          <p:cNvPr id="321" name="Google Shape;321;p64"/>
          <p:cNvPicPr preferRelativeResize="0"/>
          <p:nvPr/>
        </p:nvPicPr>
        <p:blipFill>
          <a:blip r:embed="rId3">
            <a:alphaModFix/>
          </a:blip>
          <a:stretch>
            <a:fillRect/>
          </a:stretch>
        </p:blipFill>
        <p:spPr>
          <a:xfrm>
            <a:off x="2449350" y="2814775"/>
            <a:ext cx="2235225" cy="2235225"/>
          </a:xfrm>
          <a:prstGeom prst="rect">
            <a:avLst/>
          </a:prstGeom>
          <a:noFill/>
          <a:ln cap="flat" cmpd="sng" w="9525">
            <a:solidFill>
              <a:schemeClr val="dk2"/>
            </a:solidFill>
            <a:prstDash val="solid"/>
            <a:round/>
            <a:headEnd len="sm" w="sm" type="none"/>
            <a:tailEnd len="sm" w="sm" type="none"/>
          </a:ln>
        </p:spPr>
      </p:pic>
      <p:pic>
        <p:nvPicPr>
          <p:cNvPr id="322" name="Google Shape;322;p64"/>
          <p:cNvPicPr preferRelativeResize="0"/>
          <p:nvPr/>
        </p:nvPicPr>
        <p:blipFill>
          <a:blip r:embed="rId4">
            <a:alphaModFix/>
          </a:blip>
          <a:stretch>
            <a:fillRect/>
          </a:stretch>
        </p:blipFill>
        <p:spPr>
          <a:xfrm>
            <a:off x="96475" y="478313"/>
            <a:ext cx="2235225" cy="2235225"/>
          </a:xfrm>
          <a:prstGeom prst="rect">
            <a:avLst/>
          </a:prstGeom>
          <a:noFill/>
          <a:ln cap="flat" cmpd="sng" w="9525">
            <a:solidFill>
              <a:schemeClr val="dk2"/>
            </a:solidFill>
            <a:prstDash val="solid"/>
            <a:round/>
            <a:headEnd len="sm" w="sm" type="none"/>
            <a:tailEnd len="sm" w="sm" type="none"/>
          </a:ln>
        </p:spPr>
      </p:pic>
      <p:pic>
        <p:nvPicPr>
          <p:cNvPr id="323" name="Google Shape;323;p64"/>
          <p:cNvPicPr preferRelativeResize="0"/>
          <p:nvPr/>
        </p:nvPicPr>
        <p:blipFill>
          <a:blip r:embed="rId5">
            <a:alphaModFix/>
          </a:blip>
          <a:stretch>
            <a:fillRect/>
          </a:stretch>
        </p:blipFill>
        <p:spPr>
          <a:xfrm>
            <a:off x="2449350" y="478313"/>
            <a:ext cx="2235225" cy="2235225"/>
          </a:xfrm>
          <a:prstGeom prst="rect">
            <a:avLst/>
          </a:prstGeom>
          <a:noFill/>
          <a:ln cap="flat" cmpd="sng" w="9525">
            <a:solidFill>
              <a:schemeClr val="dk2"/>
            </a:solidFill>
            <a:prstDash val="solid"/>
            <a:round/>
            <a:headEnd len="sm" w="sm" type="none"/>
            <a:tailEnd len="sm" w="sm" type="none"/>
          </a:ln>
        </p:spPr>
      </p:pic>
      <p:pic>
        <p:nvPicPr>
          <p:cNvPr id="324" name="Google Shape;324;p64"/>
          <p:cNvPicPr preferRelativeResize="0"/>
          <p:nvPr/>
        </p:nvPicPr>
        <p:blipFill>
          <a:blip r:embed="rId6">
            <a:alphaModFix/>
          </a:blip>
          <a:stretch>
            <a:fillRect/>
          </a:stretch>
        </p:blipFill>
        <p:spPr>
          <a:xfrm>
            <a:off x="4802225" y="478313"/>
            <a:ext cx="2235225" cy="2235225"/>
          </a:xfrm>
          <a:prstGeom prst="rect">
            <a:avLst/>
          </a:prstGeom>
          <a:noFill/>
          <a:ln cap="flat" cmpd="sng" w="9525">
            <a:solidFill>
              <a:schemeClr val="dk2"/>
            </a:solidFill>
            <a:prstDash val="solid"/>
            <a:round/>
            <a:headEnd len="sm" w="sm" type="none"/>
            <a:tailEnd len="sm" w="sm" type="none"/>
          </a:ln>
        </p:spPr>
      </p:pic>
      <p:pic>
        <p:nvPicPr>
          <p:cNvPr id="325" name="Google Shape;325;p64"/>
          <p:cNvPicPr preferRelativeResize="0"/>
          <p:nvPr/>
        </p:nvPicPr>
        <p:blipFill>
          <a:blip r:embed="rId7">
            <a:alphaModFix/>
          </a:blip>
          <a:stretch>
            <a:fillRect/>
          </a:stretch>
        </p:blipFill>
        <p:spPr>
          <a:xfrm>
            <a:off x="96475" y="2814775"/>
            <a:ext cx="2235225" cy="2235225"/>
          </a:xfrm>
          <a:prstGeom prst="rect">
            <a:avLst/>
          </a:prstGeom>
          <a:noFill/>
          <a:ln cap="flat" cmpd="sng" w="9525">
            <a:solidFill>
              <a:schemeClr val="dk2"/>
            </a:solidFill>
            <a:prstDash val="solid"/>
            <a:round/>
            <a:headEnd len="sm" w="sm" type="none"/>
            <a:tailEnd len="sm" w="sm" type="none"/>
          </a:ln>
        </p:spPr>
      </p:pic>
      <p:pic>
        <p:nvPicPr>
          <p:cNvPr id="326" name="Google Shape;326;p64"/>
          <p:cNvPicPr preferRelativeResize="0"/>
          <p:nvPr/>
        </p:nvPicPr>
        <p:blipFill>
          <a:blip r:embed="rId8">
            <a:alphaModFix/>
          </a:blip>
          <a:stretch>
            <a:fillRect/>
          </a:stretch>
        </p:blipFill>
        <p:spPr>
          <a:xfrm>
            <a:off x="7155100" y="478325"/>
            <a:ext cx="1788184" cy="2235224"/>
          </a:xfrm>
          <a:prstGeom prst="rect">
            <a:avLst/>
          </a:prstGeom>
          <a:noFill/>
          <a:ln cap="flat" cmpd="sng" w="9525">
            <a:solidFill>
              <a:schemeClr val="dk2"/>
            </a:solidFill>
            <a:prstDash val="solid"/>
            <a:round/>
            <a:headEnd len="sm" w="sm" type="none"/>
            <a:tailEnd len="sm" w="sm" type="none"/>
          </a:ln>
        </p:spPr>
      </p:pic>
      <p:pic>
        <p:nvPicPr>
          <p:cNvPr id="327" name="Google Shape;327;p64"/>
          <p:cNvPicPr preferRelativeResize="0"/>
          <p:nvPr/>
        </p:nvPicPr>
        <p:blipFill>
          <a:blip r:embed="rId9">
            <a:alphaModFix/>
          </a:blip>
          <a:stretch>
            <a:fillRect/>
          </a:stretch>
        </p:blipFill>
        <p:spPr>
          <a:xfrm>
            <a:off x="4802225" y="2814775"/>
            <a:ext cx="2235224" cy="22352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5"/>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Email</a:t>
            </a:r>
            <a:endParaRPr/>
          </a:p>
        </p:txBody>
      </p:sp>
      <p:pic>
        <p:nvPicPr>
          <p:cNvPr id="333" name="Google Shape;333;p65"/>
          <p:cNvPicPr preferRelativeResize="0"/>
          <p:nvPr/>
        </p:nvPicPr>
        <p:blipFill rotWithShape="1">
          <a:blip r:embed="rId3">
            <a:alphaModFix/>
          </a:blip>
          <a:srcRect b="5971" l="19537" r="20236" t="0"/>
          <a:stretch/>
        </p:blipFill>
        <p:spPr>
          <a:xfrm>
            <a:off x="7350950" y="416825"/>
            <a:ext cx="1149499" cy="4676198"/>
          </a:xfrm>
          <a:prstGeom prst="rect">
            <a:avLst/>
          </a:prstGeom>
          <a:noFill/>
          <a:ln cap="flat" cmpd="sng" w="9525">
            <a:solidFill>
              <a:schemeClr val="dk2"/>
            </a:solidFill>
            <a:prstDash val="solid"/>
            <a:round/>
            <a:headEnd len="sm" w="sm" type="none"/>
            <a:tailEnd len="sm" w="sm" type="none"/>
          </a:ln>
        </p:spPr>
      </p:pic>
      <p:pic>
        <p:nvPicPr>
          <p:cNvPr id="334" name="Google Shape;334;p65"/>
          <p:cNvPicPr preferRelativeResize="0"/>
          <p:nvPr/>
        </p:nvPicPr>
        <p:blipFill rotWithShape="1">
          <a:blip r:embed="rId3">
            <a:alphaModFix/>
          </a:blip>
          <a:srcRect b="56269" l="20684" r="20235" t="0"/>
          <a:stretch/>
        </p:blipFill>
        <p:spPr>
          <a:xfrm>
            <a:off x="332550" y="466700"/>
            <a:ext cx="2131449" cy="4110828"/>
          </a:xfrm>
          <a:prstGeom prst="rect">
            <a:avLst/>
          </a:prstGeom>
          <a:noFill/>
          <a:ln cap="flat" cmpd="sng" w="18475">
            <a:solidFill>
              <a:schemeClr val="dk2"/>
            </a:solidFill>
            <a:prstDash val="solid"/>
            <a:round/>
            <a:headEnd len="sm" w="sm" type="none"/>
            <a:tailEnd len="sm" w="sm" type="none"/>
          </a:ln>
        </p:spPr>
      </p:pic>
      <p:pic>
        <p:nvPicPr>
          <p:cNvPr id="335" name="Google Shape;335;p65"/>
          <p:cNvPicPr preferRelativeResize="0"/>
          <p:nvPr/>
        </p:nvPicPr>
        <p:blipFill rotWithShape="1">
          <a:blip r:embed="rId3">
            <a:alphaModFix/>
          </a:blip>
          <a:srcRect b="5973" l="21767" r="21237" t="43102"/>
          <a:stretch/>
        </p:blipFill>
        <p:spPr>
          <a:xfrm>
            <a:off x="3695400" y="516338"/>
            <a:ext cx="1765700" cy="4110828"/>
          </a:xfrm>
          <a:prstGeom prst="rect">
            <a:avLst/>
          </a:prstGeom>
          <a:noFill/>
          <a:ln cap="flat" cmpd="sng" w="18475">
            <a:solidFill>
              <a:schemeClr val="dk2"/>
            </a:solidFill>
            <a:prstDash val="solid"/>
            <a:round/>
            <a:headEnd len="sm" w="sm" type="none"/>
            <a:tailEnd len="sm" w="sm" type="none"/>
          </a:ln>
        </p:spPr>
      </p:pic>
      <p:cxnSp>
        <p:nvCxnSpPr>
          <p:cNvPr id="336" name="Google Shape;336;p65"/>
          <p:cNvCxnSpPr/>
          <p:nvPr/>
        </p:nvCxnSpPr>
        <p:spPr>
          <a:xfrm flipH="1" rot="10800000">
            <a:off x="2561825" y="615725"/>
            <a:ext cx="983100" cy="39618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Class C Motorhomes Email</a:t>
            </a:r>
            <a:endParaRPr/>
          </a:p>
        </p:txBody>
      </p:sp>
      <p:pic>
        <p:nvPicPr>
          <p:cNvPr id="342" name="Google Shape;342;p66"/>
          <p:cNvPicPr preferRelativeResize="0"/>
          <p:nvPr/>
        </p:nvPicPr>
        <p:blipFill rotWithShape="1">
          <a:blip r:embed="rId3">
            <a:alphaModFix/>
          </a:blip>
          <a:srcRect b="5935" l="19194" r="20579" t="0"/>
          <a:stretch/>
        </p:blipFill>
        <p:spPr>
          <a:xfrm>
            <a:off x="7563570" y="327475"/>
            <a:ext cx="1382905" cy="4676198"/>
          </a:xfrm>
          <a:prstGeom prst="rect">
            <a:avLst/>
          </a:prstGeom>
          <a:noFill/>
          <a:ln cap="flat" cmpd="sng" w="9525">
            <a:solidFill>
              <a:schemeClr val="dk2"/>
            </a:solidFill>
            <a:prstDash val="solid"/>
            <a:round/>
            <a:headEnd len="sm" w="sm" type="none"/>
            <a:tailEnd len="sm" w="sm" type="none"/>
          </a:ln>
        </p:spPr>
      </p:pic>
      <p:pic>
        <p:nvPicPr>
          <p:cNvPr id="343" name="Google Shape;343;p66"/>
          <p:cNvPicPr preferRelativeResize="0"/>
          <p:nvPr/>
        </p:nvPicPr>
        <p:blipFill rotWithShape="1">
          <a:blip r:embed="rId3">
            <a:alphaModFix/>
          </a:blip>
          <a:srcRect b="41072" l="19194" r="20579" t="0"/>
          <a:stretch/>
        </p:blipFill>
        <p:spPr>
          <a:xfrm>
            <a:off x="371525" y="506500"/>
            <a:ext cx="1907659" cy="4041001"/>
          </a:xfrm>
          <a:prstGeom prst="rect">
            <a:avLst/>
          </a:prstGeom>
          <a:noFill/>
          <a:ln cap="flat" cmpd="sng" w="14450">
            <a:solidFill>
              <a:schemeClr val="dk2"/>
            </a:solidFill>
            <a:prstDash val="solid"/>
            <a:round/>
            <a:headEnd len="sm" w="sm" type="none"/>
            <a:tailEnd len="sm" w="sm" type="none"/>
          </a:ln>
        </p:spPr>
      </p:pic>
      <p:pic>
        <p:nvPicPr>
          <p:cNvPr id="344" name="Google Shape;344;p66"/>
          <p:cNvPicPr preferRelativeResize="0"/>
          <p:nvPr/>
        </p:nvPicPr>
        <p:blipFill rotWithShape="1">
          <a:blip r:embed="rId3">
            <a:alphaModFix/>
          </a:blip>
          <a:srcRect b="5938" l="19194" r="20579" t="58925"/>
          <a:stretch/>
        </p:blipFill>
        <p:spPr>
          <a:xfrm>
            <a:off x="3340979" y="893589"/>
            <a:ext cx="1907647" cy="2409569"/>
          </a:xfrm>
          <a:prstGeom prst="rect">
            <a:avLst/>
          </a:prstGeom>
          <a:noFill/>
          <a:ln cap="flat" cmpd="sng" w="14450">
            <a:solidFill>
              <a:schemeClr val="dk2"/>
            </a:solidFill>
            <a:prstDash val="solid"/>
            <a:round/>
            <a:headEnd len="sm" w="sm" type="none"/>
            <a:tailEnd len="sm" w="sm" type="none"/>
          </a:ln>
        </p:spPr>
      </p:pic>
      <p:cxnSp>
        <p:nvCxnSpPr>
          <p:cNvPr id="345" name="Google Shape;345;p66"/>
          <p:cNvCxnSpPr/>
          <p:nvPr/>
        </p:nvCxnSpPr>
        <p:spPr>
          <a:xfrm flipH="1" rot="10800000">
            <a:off x="2363225" y="893600"/>
            <a:ext cx="893700" cy="3614400"/>
          </a:xfrm>
          <a:prstGeom prst="straightConnector1">
            <a:avLst/>
          </a:prstGeom>
          <a:noFill/>
          <a:ln cap="flat" cmpd="sng" w="19050">
            <a:solidFill>
              <a:schemeClr val="dk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Aged Inventory EMail</a:t>
            </a:r>
            <a:endParaRPr/>
          </a:p>
        </p:txBody>
      </p:sp>
      <p:pic>
        <p:nvPicPr>
          <p:cNvPr id="351" name="Google Shape;351;p67"/>
          <p:cNvPicPr preferRelativeResize="0"/>
          <p:nvPr/>
        </p:nvPicPr>
        <p:blipFill rotWithShape="1">
          <a:blip r:embed="rId3">
            <a:alphaModFix/>
          </a:blip>
          <a:srcRect b="6218" l="20738" r="20680" t="0"/>
          <a:stretch/>
        </p:blipFill>
        <p:spPr>
          <a:xfrm>
            <a:off x="148925" y="450000"/>
            <a:ext cx="1395376" cy="4583849"/>
          </a:xfrm>
          <a:prstGeom prst="rect">
            <a:avLst/>
          </a:prstGeom>
          <a:noFill/>
          <a:ln cap="flat" cmpd="sng" w="9525">
            <a:solidFill>
              <a:schemeClr val="dk2"/>
            </a:solidFill>
            <a:prstDash val="solid"/>
            <a:round/>
            <a:headEnd len="sm" w="sm" type="none"/>
            <a:tailEnd len="sm" w="sm" type="none"/>
          </a:ln>
        </p:spPr>
      </p:pic>
      <p:pic>
        <p:nvPicPr>
          <p:cNvPr id="352" name="Google Shape;352;p67"/>
          <p:cNvPicPr preferRelativeResize="0"/>
          <p:nvPr/>
        </p:nvPicPr>
        <p:blipFill rotWithShape="1">
          <a:blip r:embed="rId4">
            <a:alphaModFix/>
          </a:blip>
          <a:srcRect b="6244" l="20735" r="21038" t="0"/>
          <a:stretch/>
        </p:blipFill>
        <p:spPr>
          <a:xfrm>
            <a:off x="5712800" y="436650"/>
            <a:ext cx="1395376" cy="4610540"/>
          </a:xfrm>
          <a:prstGeom prst="rect">
            <a:avLst/>
          </a:prstGeom>
          <a:noFill/>
          <a:ln cap="flat" cmpd="sng" w="9525">
            <a:solidFill>
              <a:schemeClr val="dk2"/>
            </a:solidFill>
            <a:prstDash val="solid"/>
            <a:round/>
            <a:headEnd len="sm" w="sm" type="none"/>
            <a:tailEnd len="sm" w="sm" type="none"/>
          </a:ln>
        </p:spPr>
      </p:pic>
      <p:pic>
        <p:nvPicPr>
          <p:cNvPr id="353" name="Google Shape;353;p67"/>
          <p:cNvPicPr preferRelativeResize="0"/>
          <p:nvPr/>
        </p:nvPicPr>
        <p:blipFill rotWithShape="1">
          <a:blip r:embed="rId5">
            <a:alphaModFix/>
          </a:blip>
          <a:srcRect b="6244" l="20586" r="20379" t="0"/>
          <a:stretch/>
        </p:blipFill>
        <p:spPr>
          <a:xfrm>
            <a:off x="2894250" y="423050"/>
            <a:ext cx="1423101" cy="4637727"/>
          </a:xfrm>
          <a:prstGeom prst="rect">
            <a:avLst/>
          </a:prstGeom>
          <a:noFill/>
          <a:ln cap="flat" cmpd="sng" w="9525">
            <a:solidFill>
              <a:schemeClr val="dk2"/>
            </a:solidFill>
            <a:prstDash val="solid"/>
            <a:round/>
            <a:headEnd len="sm" w="sm" type="none"/>
            <a:tailEnd len="sm" w="sm" type="none"/>
          </a:ln>
        </p:spPr>
      </p:pic>
      <p:sp>
        <p:nvSpPr>
          <p:cNvPr id="354" name="Google Shape;354;p67"/>
          <p:cNvSpPr txBox="1"/>
          <p:nvPr/>
        </p:nvSpPr>
        <p:spPr>
          <a:xfrm>
            <a:off x="1628475" y="886875"/>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Iowa</a:t>
            </a:r>
            <a:endParaRPr sz="1800">
              <a:solidFill>
                <a:schemeClr val="dk2"/>
              </a:solidFill>
              <a:latin typeface="Roboto"/>
              <a:ea typeface="Roboto"/>
              <a:cs typeface="Roboto"/>
              <a:sym typeface="Roboto"/>
            </a:endParaRPr>
          </a:p>
        </p:txBody>
      </p:sp>
      <p:sp>
        <p:nvSpPr>
          <p:cNvPr id="355" name="Google Shape;355;p67"/>
          <p:cNvSpPr txBox="1"/>
          <p:nvPr/>
        </p:nvSpPr>
        <p:spPr>
          <a:xfrm>
            <a:off x="4378050"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
        <p:nvSpPr>
          <p:cNvPr id="356" name="Google Shape;356;p67"/>
          <p:cNvSpPr txBox="1"/>
          <p:nvPr/>
        </p:nvSpPr>
        <p:spPr>
          <a:xfrm>
            <a:off x="7261325" y="886863"/>
            <a:ext cx="11022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Illinois</a:t>
            </a:r>
            <a:endParaRPr sz="18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360" name="Shape 360"/>
        <p:cNvGrpSpPr/>
        <p:nvPr/>
      </p:nvGrpSpPr>
      <p:grpSpPr>
        <a:xfrm>
          <a:off x="0" y="0"/>
          <a:ext cx="0" cy="0"/>
          <a:chOff x="0" y="0"/>
          <a:chExt cx="0" cy="0"/>
        </a:xfrm>
      </p:grpSpPr>
      <p:sp>
        <p:nvSpPr>
          <p:cNvPr id="361" name="Google Shape;361;p68"/>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Results</a:t>
            </a:r>
            <a:endParaRPr sz="4800">
              <a:solidFill>
                <a:schemeClr val="lt1"/>
              </a:solidFill>
            </a:endParaRPr>
          </a:p>
        </p:txBody>
      </p:sp>
      <p:sp>
        <p:nvSpPr>
          <p:cNvPr id="362" name="Google Shape;36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68"/>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364" name="Google Shape;364;p68"/>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9"/>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Smart Analytics VDPs - March</a:t>
            </a:r>
            <a:endParaRPr/>
          </a:p>
        </p:txBody>
      </p:sp>
      <p:graphicFrame>
        <p:nvGraphicFramePr>
          <p:cNvPr id="370" name="Google Shape;370;p69"/>
          <p:cNvGraphicFramePr/>
          <p:nvPr/>
        </p:nvGraphicFramePr>
        <p:xfrm>
          <a:off x="767988" y="2658816"/>
          <a:ext cx="3000000" cy="3000000"/>
        </p:xfrm>
        <a:graphic>
          <a:graphicData uri="http://schemas.openxmlformats.org/drawingml/2006/table">
            <a:tbl>
              <a:tblPr>
                <a:noFill/>
                <a:tableStyleId>{7E530ABA-82E6-40B3-9370-665EBA873D1E}</a:tableStyleId>
              </a:tblPr>
              <a:tblGrid>
                <a:gridCol w="1223900"/>
                <a:gridCol w="1049050"/>
                <a:gridCol w="1398750"/>
                <a:gridCol w="1190600"/>
                <a:gridCol w="1090675"/>
                <a:gridCol w="857550"/>
              </a:tblGrid>
              <a:tr h="427075">
                <a:tc>
                  <a:txBody>
                    <a:bodyPr/>
                    <a:lstStyle/>
                    <a:p>
                      <a:pPr indent="0" lvl="0" marL="0" rtl="0" algn="ctr">
                        <a:lnSpc>
                          <a:spcPct val="115000"/>
                        </a:lnSpc>
                        <a:spcBef>
                          <a:spcPts val="0"/>
                        </a:spcBef>
                        <a:spcAft>
                          <a:spcPts val="0"/>
                        </a:spcAft>
                        <a:buNone/>
                      </a:pPr>
                      <a:r>
                        <a:rPr b="1" lang="en" sz="1200"/>
                        <a:t>Month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Total</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Organic Search</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Paid Search + Cross Network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Facebook</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Direct</a:t>
                      </a:r>
                      <a:endParaRPr b="1" sz="12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rgbClr val="FFFF00"/>
                    </a:solidFill>
                  </a:tcPr>
                </a:tc>
              </a:tr>
              <a:tr h="294775">
                <a:tc>
                  <a:txBody>
                    <a:bodyPr/>
                    <a:lstStyle/>
                    <a:p>
                      <a:pPr indent="0" lvl="0" marL="0" rtl="0" algn="ctr">
                        <a:lnSpc>
                          <a:spcPct val="115000"/>
                        </a:lnSpc>
                        <a:spcBef>
                          <a:spcPts val="0"/>
                        </a:spcBef>
                        <a:spcAft>
                          <a:spcPts val="0"/>
                        </a:spcAft>
                        <a:buNone/>
                      </a:pPr>
                      <a:r>
                        <a:rPr b="1" lang="en" sz="1100"/>
                        <a:t>March</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February</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294775">
                <a:tc>
                  <a:txBody>
                    <a:bodyPr/>
                    <a:lstStyle/>
                    <a:p>
                      <a:pPr indent="0" lvl="0" marL="0" rtl="0" algn="ctr">
                        <a:lnSpc>
                          <a:spcPct val="115000"/>
                        </a:lnSpc>
                        <a:spcBef>
                          <a:spcPts val="0"/>
                        </a:spcBef>
                        <a:spcAft>
                          <a:spcPts val="0"/>
                        </a:spcAft>
                        <a:buNone/>
                      </a:pPr>
                      <a:r>
                        <a:rPr b="1" lang="en" sz="1100"/>
                        <a:t>% Change</a:t>
                      </a:r>
                      <a:endParaRPr b="1" sz="1100"/>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pic>
        <p:nvPicPr>
          <p:cNvPr id="371" name="Google Shape;371;p69"/>
          <p:cNvPicPr preferRelativeResize="0"/>
          <p:nvPr/>
        </p:nvPicPr>
        <p:blipFill rotWithShape="1">
          <a:blip r:embed="rId3">
            <a:alphaModFix/>
          </a:blip>
          <a:srcRect b="0" l="-450" r="450" t="0"/>
          <a:stretch/>
        </p:blipFill>
        <p:spPr>
          <a:xfrm>
            <a:off x="238600" y="578226"/>
            <a:ext cx="7733048" cy="199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7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What Converts Leads March </a:t>
            </a:r>
            <a:endParaRPr>
              <a:latin typeface="Roboto"/>
              <a:ea typeface="Roboto"/>
              <a:cs typeface="Roboto"/>
              <a:sym typeface="Roboto"/>
            </a:endParaRPr>
          </a:p>
        </p:txBody>
      </p:sp>
      <p:sp>
        <p:nvSpPr>
          <p:cNvPr id="377" name="Google Shape;377;p7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378" name="Google Shape;378;p70"/>
          <p:cNvGraphicFramePr/>
          <p:nvPr/>
        </p:nvGraphicFramePr>
        <p:xfrm>
          <a:off x="4727975" y="553550"/>
          <a:ext cx="3000000" cy="3000000"/>
        </p:xfrm>
        <a:graphic>
          <a:graphicData uri="http://schemas.openxmlformats.org/drawingml/2006/table">
            <a:tbl>
              <a:tblPr>
                <a:noFill/>
                <a:tableStyleId>{7E530ABA-82E6-40B3-9370-665EBA873D1E}</a:tableStyleId>
              </a:tblPr>
              <a:tblGrid>
                <a:gridCol w="1580500"/>
                <a:gridCol w="1292475"/>
                <a:gridCol w="1428750"/>
              </a:tblGrid>
              <a:tr h="203700">
                <a:tc>
                  <a:txBody>
                    <a:bodyPr/>
                    <a:lstStyle/>
                    <a:p>
                      <a:pPr indent="0" lvl="0" marL="0" rtl="0" algn="l">
                        <a:lnSpc>
                          <a:spcPct val="115000"/>
                        </a:lnSpc>
                        <a:spcBef>
                          <a:spcPts val="0"/>
                        </a:spcBef>
                        <a:spcAft>
                          <a:spcPts val="0"/>
                        </a:spcAft>
                        <a:buNone/>
                      </a:pPr>
                      <a:r>
                        <a:rPr b="1" lang="en" sz="1200"/>
                        <a:t>Source/ Medium</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03700">
                <a:tc>
                  <a:txBody>
                    <a:bodyPr/>
                    <a:lstStyle/>
                    <a:p>
                      <a:pPr indent="0" lvl="0" marL="0" rtl="0" algn="l">
                        <a:lnSpc>
                          <a:spcPct val="115000"/>
                        </a:lnSpc>
                        <a:spcBef>
                          <a:spcPts val="0"/>
                        </a:spcBef>
                        <a:spcAft>
                          <a:spcPts val="0"/>
                        </a:spcAft>
                        <a:buNone/>
                      </a:pPr>
                      <a:r>
                        <a:rPr lang="en" sz="1100"/>
                        <a:t>Direct</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8775">
                <a:tc>
                  <a:txBody>
                    <a:bodyPr/>
                    <a:lstStyle/>
                    <a:p>
                      <a:pPr indent="0" lvl="0" marL="0" rtl="0" algn="l">
                        <a:lnSpc>
                          <a:spcPct val="115000"/>
                        </a:lnSpc>
                        <a:spcBef>
                          <a:spcPts val="0"/>
                        </a:spcBef>
                        <a:spcAft>
                          <a:spcPts val="0"/>
                        </a:spcAft>
                        <a:buNone/>
                      </a:pPr>
                      <a:r>
                        <a:rPr lang="en" sz="1100"/>
                        <a:t>Google PPC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email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organic</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referral</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lang="en" sz="1100"/>
                        <a:t>Facebook</a:t>
                      </a:r>
                      <a:endParaRPr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3700">
                <a:tc>
                  <a:txBody>
                    <a:bodyPr/>
                    <a:lstStyle/>
                    <a:p>
                      <a:pPr indent="0" lvl="0" marL="0" rtl="0" algn="l">
                        <a:lnSpc>
                          <a:spcPct val="115000"/>
                        </a:lnSpc>
                        <a:spcBef>
                          <a:spcPts val="0"/>
                        </a:spcBef>
                        <a:spcAft>
                          <a:spcPts val="0"/>
                        </a:spcAft>
                        <a:buNone/>
                      </a:pPr>
                      <a:r>
                        <a:rPr b="1" lang="en" sz="1100"/>
                        <a:t>Grand Total</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graphicFrame>
        <p:nvGraphicFramePr>
          <p:cNvPr id="379" name="Google Shape;379;p70"/>
          <p:cNvGraphicFramePr/>
          <p:nvPr/>
        </p:nvGraphicFramePr>
        <p:xfrm>
          <a:off x="78463" y="3028800"/>
          <a:ext cx="3000000" cy="3000000"/>
        </p:xfrm>
        <a:graphic>
          <a:graphicData uri="http://schemas.openxmlformats.org/drawingml/2006/table">
            <a:tbl>
              <a:tblPr>
                <a:noFill/>
                <a:tableStyleId>{7E530ABA-82E6-40B3-9370-665EBA873D1E}</a:tableStyleId>
              </a:tblPr>
              <a:tblGrid>
                <a:gridCol w="1349075"/>
                <a:gridCol w="702650"/>
                <a:gridCol w="702650"/>
                <a:gridCol w="702650"/>
                <a:gridCol w="702650"/>
                <a:gridCol w="702650"/>
                <a:gridCol w="702650"/>
              </a:tblGrid>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Form Name</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Direct</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Google CPC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facebook</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organic</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referral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r h="369550">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Contact Sales - Product Page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Price Drop</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lang="en" sz="1100">
                          <a:latin typeface="Calibri"/>
                          <a:ea typeface="Calibri"/>
                          <a:cs typeface="Calibri"/>
                          <a:sym typeface="Calibri"/>
                        </a:rPr>
                        <a:t>Unlock Internet Price</a:t>
                      </a:r>
                      <a:endParaRPr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1575">
                <a:tc>
                  <a:txBody>
                    <a:bodyPr/>
                    <a:lstStyle/>
                    <a:p>
                      <a:pPr indent="0" lvl="0" marL="0" rtl="0" algn="l">
                        <a:lnSpc>
                          <a:spcPct val="115000"/>
                        </a:lnSpc>
                        <a:spcBef>
                          <a:spcPts val="0"/>
                        </a:spcBef>
                        <a:spcAft>
                          <a:spcPts val="0"/>
                        </a:spcAft>
                        <a:buNone/>
                      </a:pPr>
                      <a:r>
                        <a:rPr b="1" lang="en" sz="1100">
                          <a:latin typeface="Calibri"/>
                          <a:ea typeface="Calibri"/>
                          <a:cs typeface="Calibri"/>
                          <a:sym typeface="Calibri"/>
                        </a:rPr>
                        <a:t>Grand Total</a:t>
                      </a:r>
                      <a:endParaRPr b="1" sz="11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1F2"/>
                    </a:solidFill>
                  </a:tcPr>
                </a:tc>
              </a:tr>
            </a:tbl>
          </a:graphicData>
        </a:graphic>
      </p:graphicFrame>
      <p:pic>
        <p:nvPicPr>
          <p:cNvPr id="380" name="Google Shape;380;p70" title="Screenshot 2026-03-31 at 10.14.43 AM.png"/>
          <p:cNvPicPr preferRelativeResize="0"/>
          <p:nvPr/>
        </p:nvPicPr>
        <p:blipFill>
          <a:blip r:embed="rId3">
            <a:alphaModFix/>
          </a:blip>
          <a:stretch>
            <a:fillRect/>
          </a:stretch>
        </p:blipFill>
        <p:spPr>
          <a:xfrm>
            <a:off x="6229751" y="2698219"/>
            <a:ext cx="2395550" cy="1939080"/>
          </a:xfrm>
          <a:prstGeom prst="rect">
            <a:avLst/>
          </a:prstGeom>
          <a:noFill/>
          <a:ln>
            <a:noFill/>
          </a:ln>
        </p:spPr>
      </p:pic>
      <p:pic>
        <p:nvPicPr>
          <p:cNvPr id="381" name="Google Shape;381;p70"/>
          <p:cNvPicPr preferRelativeResize="0"/>
          <p:nvPr/>
        </p:nvPicPr>
        <p:blipFill>
          <a:blip r:embed="rId4">
            <a:alphaModFix/>
          </a:blip>
          <a:stretch>
            <a:fillRect/>
          </a:stretch>
        </p:blipFill>
        <p:spPr>
          <a:xfrm>
            <a:off x="152400" y="543600"/>
            <a:ext cx="4423176" cy="215461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71"/>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Paid Search GA4 Overview - March</a:t>
            </a:r>
            <a:endParaRPr>
              <a:latin typeface="Roboto"/>
              <a:ea typeface="Roboto"/>
              <a:cs typeface="Roboto"/>
              <a:sym typeface="Roboto"/>
            </a:endParaRPr>
          </a:p>
        </p:txBody>
      </p:sp>
      <p:sp>
        <p:nvSpPr>
          <p:cNvPr id="387" name="Google Shape;387;p71"/>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388" name="Google Shape;388;p71"/>
          <p:cNvPicPr preferRelativeResize="0"/>
          <p:nvPr/>
        </p:nvPicPr>
        <p:blipFill>
          <a:blip r:embed="rId3">
            <a:alphaModFix/>
          </a:blip>
          <a:stretch>
            <a:fillRect/>
          </a:stretch>
        </p:blipFill>
        <p:spPr>
          <a:xfrm>
            <a:off x="0" y="543672"/>
            <a:ext cx="9144000" cy="209993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7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Organic Search Data March </a:t>
            </a:r>
            <a:endParaRPr/>
          </a:p>
        </p:txBody>
      </p:sp>
      <p:graphicFrame>
        <p:nvGraphicFramePr>
          <p:cNvPr id="394" name="Google Shape;394;p72"/>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Organic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rgbClr val="000000"/>
                      </a:solidFill>
                      <a:prstDash val="solid"/>
                      <a:round/>
                      <a:headEnd len="sm" w="sm" type="none"/>
                      <a:tailEnd len="sm" w="sm" type="none"/>
                    </a:lnL>
                    <a:lnR cap="flat" cmpd="sng" w="6925">
                      <a:solidFill>
                        <a:srgbClr val="000000"/>
                      </a:solidFill>
                      <a:prstDash val="solid"/>
                      <a:round/>
                      <a:headEnd len="sm" w="sm" type="none"/>
                      <a:tailEnd len="sm" w="sm" type="none"/>
                    </a:lnR>
                    <a:lnT cap="flat" cmpd="sng" w="69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7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Zoomers RV Paid Search Data March </a:t>
            </a:r>
            <a:endParaRPr/>
          </a:p>
        </p:txBody>
      </p:sp>
      <p:graphicFrame>
        <p:nvGraphicFramePr>
          <p:cNvPr id="400" name="Google Shape;400;p73"/>
          <p:cNvGraphicFramePr/>
          <p:nvPr/>
        </p:nvGraphicFramePr>
        <p:xfrm>
          <a:off x="152400" y="666675"/>
          <a:ext cx="3000000" cy="3000000"/>
        </p:xfrm>
        <a:graphic>
          <a:graphicData uri="http://schemas.openxmlformats.org/drawingml/2006/table">
            <a:tbl>
              <a:tblPr>
                <a:noFill/>
                <a:tableStyleId>{7E530ABA-82E6-40B3-9370-665EBA873D1E}</a:tableStyleId>
              </a:tblPr>
              <a:tblGrid>
                <a:gridCol w="2598375"/>
                <a:gridCol w="2031450"/>
                <a:gridCol w="2031450"/>
                <a:gridCol w="1685000"/>
              </a:tblGrid>
              <a:tr h="361950">
                <a:tc>
                  <a:txBody>
                    <a:bodyPr/>
                    <a:lstStyle/>
                    <a:p>
                      <a:pPr indent="0" lvl="0" marL="0" rtl="0" algn="l">
                        <a:spcBef>
                          <a:spcPts val="0"/>
                        </a:spcBef>
                        <a:spcAft>
                          <a:spcPts val="0"/>
                        </a:spcAft>
                        <a:buNone/>
                      </a:pPr>
                      <a:r>
                        <a:rPr b="1" lang="en" sz="1200"/>
                        <a:t>Data 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Overall Total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a:t>Paid Search % </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Users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Sessions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Pageviews</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Time on site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6925">
                      <a:solidFill>
                        <a:schemeClr val="dk1"/>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Bounce Rate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6925">
                      <a:solidFill>
                        <a:schemeClr val="dk1"/>
                      </a:solidFill>
                      <a:prstDash val="solid"/>
                      <a:round/>
                      <a:headEnd len="sm" w="sm" type="none"/>
                      <a:tailEnd len="sm" w="sm" type="none"/>
                    </a:lnL>
                    <a:lnR cap="flat" cmpd="sng" w="6925">
                      <a:solidFill>
                        <a:schemeClr val="dk1"/>
                      </a:solidFill>
                      <a:prstDash val="solid"/>
                      <a:round/>
                      <a:headEnd len="sm" w="sm" type="none"/>
                      <a:tailEnd len="sm" w="sm" type="none"/>
                    </a:lnR>
                    <a:lnT cap="flat" cmpd="sng" w="6925">
                      <a:solidFill>
                        <a:schemeClr val="dk1"/>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VDP</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Button Interaction</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0975">
                <a:tc>
                  <a:txBody>
                    <a:bodyPr/>
                    <a:lstStyle/>
                    <a:p>
                      <a:pPr indent="0" lvl="0" marL="0" rtl="0" algn="l">
                        <a:spcBef>
                          <a:spcPts val="0"/>
                        </a:spcBef>
                        <a:spcAft>
                          <a:spcPts val="0"/>
                        </a:spcAft>
                        <a:buNone/>
                      </a:pPr>
                      <a:r>
                        <a:rPr b="1" lang="en" sz="1200"/>
                        <a:t>Form Fill</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4"/>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March</a:t>
            </a:r>
            <a:endParaRPr/>
          </a:p>
        </p:txBody>
      </p:sp>
      <p:graphicFrame>
        <p:nvGraphicFramePr>
          <p:cNvPr id="406" name="Google Shape;406;p74"/>
          <p:cNvGraphicFramePr/>
          <p:nvPr/>
        </p:nvGraphicFramePr>
        <p:xfrm>
          <a:off x="529938" y="1456100"/>
          <a:ext cx="3000000" cy="3000000"/>
        </p:xfrm>
        <a:graphic>
          <a:graphicData uri="http://schemas.openxmlformats.org/drawingml/2006/table">
            <a:tbl>
              <a:tblPr>
                <a:noFill/>
                <a:tableStyleId>{7E530ABA-82E6-40B3-9370-665EBA873D1E}</a:tableStyleId>
              </a:tblPr>
              <a:tblGrid>
                <a:gridCol w="1235225"/>
                <a:gridCol w="1164950"/>
                <a:gridCol w="1173775"/>
                <a:gridCol w="989775"/>
                <a:gridCol w="1049875"/>
                <a:gridCol w="766550"/>
                <a:gridCol w="1505425"/>
              </a:tblGrid>
              <a:tr h="440975">
                <a:tc>
                  <a:txBody>
                    <a:bodyPr/>
                    <a:lstStyle/>
                    <a:p>
                      <a:pPr indent="0" lvl="0" marL="0" rtl="0" algn="l">
                        <a:spcBef>
                          <a:spcPts val="0"/>
                        </a:spcBef>
                        <a:spcAft>
                          <a:spcPts val="0"/>
                        </a:spcAft>
                        <a:buNone/>
                      </a:pPr>
                      <a:r>
                        <a:rPr b="1" lang="en"/>
                        <a:t>MOM</a:t>
                      </a:r>
                      <a:endParaRPr b="1"/>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Search Impr Share</a:t>
                      </a:r>
                      <a:endParaRPr b="1" sz="12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9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9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11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Paid Search Ads Overview - MoM March</a:t>
            </a:r>
            <a:endParaRPr/>
          </a:p>
        </p:txBody>
      </p:sp>
      <p:graphicFrame>
        <p:nvGraphicFramePr>
          <p:cNvPr id="412" name="Google Shape;412;p75"/>
          <p:cNvGraphicFramePr/>
          <p:nvPr/>
        </p:nvGraphicFramePr>
        <p:xfrm>
          <a:off x="1528200" y="466675"/>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2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026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5912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3" name="Google Shape;413;p75"/>
          <p:cNvSpPr txBox="1"/>
          <p:nvPr>
            <p:ph type="title"/>
          </p:nvPr>
        </p:nvSpPr>
        <p:spPr>
          <a:xfrm>
            <a:off x="68550" y="4666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Indiana</a:t>
            </a:r>
            <a:endParaRPr/>
          </a:p>
        </p:txBody>
      </p:sp>
      <p:graphicFrame>
        <p:nvGraphicFramePr>
          <p:cNvPr id="414" name="Google Shape;414;p75"/>
          <p:cNvGraphicFramePr/>
          <p:nvPr/>
        </p:nvGraphicFramePr>
        <p:xfrm>
          <a:off x="1528200" y="1815775"/>
          <a:ext cx="3000000" cy="3000000"/>
        </p:xfrm>
        <a:graphic>
          <a:graphicData uri="http://schemas.openxmlformats.org/drawingml/2006/table">
            <a:tbl>
              <a:tblPr>
                <a:noFill/>
                <a:tableStyleId>{7E530ABA-82E6-40B3-9370-665EBA873D1E}</a:tableStyleId>
              </a:tblPr>
              <a:tblGrid>
                <a:gridCol w="1164950"/>
                <a:gridCol w="1192925"/>
                <a:gridCol w="1012775"/>
                <a:gridCol w="933475"/>
                <a:gridCol w="990150"/>
                <a:gridCol w="838900"/>
                <a:gridCol w="1303825"/>
              </a:tblGrid>
              <a:tr h="307450">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04675">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3432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341475">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15" name="Google Shape;415;p75"/>
          <p:cNvSpPr txBox="1"/>
          <p:nvPr>
            <p:ph type="title"/>
          </p:nvPr>
        </p:nvSpPr>
        <p:spPr>
          <a:xfrm>
            <a:off x="68550" y="1815775"/>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Illinois</a:t>
            </a:r>
            <a:endParaRPr/>
          </a:p>
        </p:txBody>
      </p:sp>
      <p:sp>
        <p:nvSpPr>
          <p:cNvPr id="416" name="Google Shape;416;p75"/>
          <p:cNvSpPr txBox="1"/>
          <p:nvPr>
            <p:ph type="title"/>
          </p:nvPr>
        </p:nvSpPr>
        <p:spPr>
          <a:xfrm>
            <a:off x="68550" y="3268950"/>
            <a:ext cx="11430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Iowa</a:t>
            </a:r>
            <a:endParaRPr/>
          </a:p>
        </p:txBody>
      </p:sp>
      <p:graphicFrame>
        <p:nvGraphicFramePr>
          <p:cNvPr id="417" name="Google Shape;417;p75"/>
          <p:cNvGraphicFramePr/>
          <p:nvPr/>
        </p:nvGraphicFramePr>
        <p:xfrm>
          <a:off x="1528200" y="3268950"/>
          <a:ext cx="3000000" cy="3000000"/>
        </p:xfrm>
        <a:graphic>
          <a:graphicData uri="http://schemas.openxmlformats.org/drawingml/2006/table">
            <a:tbl>
              <a:tblPr>
                <a:noFill/>
                <a:tableStyleId>{7E530ABA-82E6-40B3-9370-665EBA873D1E}</a:tableStyleId>
              </a:tblPr>
              <a:tblGrid>
                <a:gridCol w="1191675"/>
                <a:gridCol w="1123900"/>
                <a:gridCol w="1132400"/>
                <a:gridCol w="954875"/>
                <a:gridCol w="1012850"/>
                <a:gridCol w="739525"/>
                <a:gridCol w="1281775"/>
              </a:tblGrid>
              <a:tr h="335475">
                <a:tc>
                  <a:txBody>
                    <a:bodyPr/>
                    <a:lstStyle/>
                    <a:p>
                      <a:pPr indent="0" lvl="0" marL="0" rtl="0" algn="l">
                        <a:spcBef>
                          <a:spcPts val="0"/>
                        </a:spcBef>
                        <a:spcAft>
                          <a:spcPts val="0"/>
                        </a:spcAft>
                        <a:buNone/>
                      </a:pPr>
                      <a:r>
                        <a:t/>
                      </a:r>
                      <a:endParaRPr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Cost</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Impression</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Clicks</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CPC</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CTR</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latin typeface="Calibri"/>
                          <a:ea typeface="Calibri"/>
                          <a:cs typeface="Calibri"/>
                          <a:sym typeface="Calibri"/>
                        </a:rPr>
                        <a:t>Search Impr Share</a:t>
                      </a:r>
                      <a:endParaRPr b="1" sz="1200">
                        <a:latin typeface="Calibri"/>
                        <a:ea typeface="Calibri"/>
                        <a:cs typeface="Calibri"/>
                        <a:sym typeface="Calibri"/>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FFFF00"/>
                    </a:solidFill>
                  </a:tcPr>
                </a:tc>
              </a:tr>
              <a:tr h="382100">
                <a:tc>
                  <a:txBody>
                    <a:bodyPr/>
                    <a:lstStyle/>
                    <a:p>
                      <a:pPr indent="0" lvl="0" marL="0" rtl="0" algn="l">
                        <a:spcBef>
                          <a:spcPts val="0"/>
                        </a:spcBef>
                        <a:spcAft>
                          <a:spcPts val="0"/>
                        </a:spcAft>
                        <a:buNone/>
                      </a:pPr>
                      <a:r>
                        <a:rPr b="1" lang="en" sz="1200"/>
                        <a:t>March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tcPr>
                </a:tc>
              </a:tr>
              <a:tr h="372175">
                <a:tc>
                  <a:txBody>
                    <a:bodyPr/>
                    <a:lstStyle/>
                    <a:p>
                      <a:pPr indent="0" lvl="0" marL="0" rtl="0" algn="l">
                        <a:lnSpc>
                          <a:spcPct val="115000"/>
                        </a:lnSpc>
                        <a:spcBef>
                          <a:spcPts val="0"/>
                        </a:spcBef>
                        <a:spcAft>
                          <a:spcPts val="0"/>
                        </a:spcAft>
                        <a:buNone/>
                      </a:pPr>
                      <a:r>
                        <a:rPr b="1" lang="en" sz="1200"/>
                        <a:t>February </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000000"/>
                      </a:solidFill>
                      <a:prstDash val="solid"/>
                      <a:round/>
                      <a:headEnd len="sm" w="sm" type="none"/>
                      <a:tailEnd len="sm" w="sm" type="none"/>
                    </a:lnB>
                  </a:tcPr>
                </a:tc>
              </a:tr>
              <a:tr h="293150">
                <a:tc>
                  <a:txBody>
                    <a:bodyPr/>
                    <a:lstStyle/>
                    <a:p>
                      <a:pPr indent="0" lvl="0" marL="0" rtl="0" algn="l">
                        <a:lnSpc>
                          <a:spcPct val="115000"/>
                        </a:lnSpc>
                        <a:spcBef>
                          <a:spcPts val="0"/>
                        </a:spcBef>
                        <a:spcAft>
                          <a:spcPts val="0"/>
                        </a:spcAft>
                        <a:buNone/>
                      </a:pPr>
                      <a:r>
                        <a:rPr b="1" lang="en" sz="1200"/>
                        <a:t>Change %</a:t>
                      </a:r>
                      <a:endParaRPr b="1" sz="1200"/>
                    </a:p>
                  </a:txBody>
                  <a:tcPr marT="19050" marB="19050" marR="28575" marL="28575" anchor="b">
                    <a:lnL cap="flat" cmpd="sng" w="9525">
                      <a:solidFill>
                        <a:schemeClr val="dk1"/>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Pmax Ads Overview - March </a:t>
            </a:r>
            <a:endParaRPr/>
          </a:p>
        </p:txBody>
      </p:sp>
      <p:graphicFrame>
        <p:nvGraphicFramePr>
          <p:cNvPr id="423" name="Google Shape;423;p76"/>
          <p:cNvGraphicFramePr/>
          <p:nvPr/>
        </p:nvGraphicFramePr>
        <p:xfrm>
          <a:off x="328400" y="786150"/>
          <a:ext cx="3000000" cy="3000000"/>
        </p:xfrm>
        <a:graphic>
          <a:graphicData uri="http://schemas.openxmlformats.org/drawingml/2006/table">
            <a:tbl>
              <a:tblPr>
                <a:noFill/>
                <a:tableStyleId>{7E530ABA-82E6-40B3-9370-665EBA873D1E}</a:tableStyleId>
              </a:tblPr>
              <a:tblGrid>
                <a:gridCol w="1468625"/>
                <a:gridCol w="967975"/>
                <a:gridCol w="1086525"/>
                <a:gridCol w="975700"/>
                <a:gridCol w="1034925"/>
                <a:gridCol w="981425"/>
              </a:tblGrid>
              <a:tr h="426350">
                <a:tc>
                  <a:txBody>
                    <a:bodyPr/>
                    <a:lstStyle/>
                    <a:p>
                      <a:pPr indent="0" lvl="0" marL="0" rtl="0" algn="l">
                        <a:spcBef>
                          <a:spcPts val="0"/>
                        </a:spcBef>
                        <a:spcAft>
                          <a:spcPts val="0"/>
                        </a:spcAft>
                        <a:buNone/>
                      </a:pPr>
                      <a:r>
                        <a:t/>
                      </a:r>
                      <a:endParaRPr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Cost</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Impression</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Clicks</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CPC</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300"/>
                        <a:t>CTR</a:t>
                      </a:r>
                      <a:endParaRPr b="1" sz="13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91175">
                <a:tc>
                  <a:txBody>
                    <a:bodyPr/>
                    <a:lstStyle/>
                    <a:p>
                      <a:pPr indent="0" lvl="0" marL="0" rtl="0" algn="l">
                        <a:lnSpc>
                          <a:spcPct val="115000"/>
                        </a:lnSpc>
                        <a:spcBef>
                          <a:spcPts val="0"/>
                        </a:spcBef>
                        <a:spcAft>
                          <a:spcPts val="0"/>
                        </a:spcAft>
                        <a:buNone/>
                      </a:pPr>
                      <a:r>
                        <a:rPr b="1" lang="en" sz="1300"/>
                        <a:t>March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$1,702.20</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154,888</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11,147</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$0.95</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10.90%</a:t>
                      </a:r>
                      <a:endParaRPr>
                        <a:solidFill>
                          <a:schemeClr val="dk1"/>
                        </a:solidFill>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February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$2,656.08</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182,982</a:t>
                      </a:r>
                      <a:endParaRPr sz="1050">
                        <a:solidFill>
                          <a:srgbClr val="A5D6FF"/>
                        </a:solidFill>
                        <a:highlight>
                          <a:srgbClr val="121314"/>
                        </a:highlight>
                        <a:latin typeface="Courier New"/>
                        <a:ea typeface="Courier New"/>
                        <a:cs typeface="Courier New"/>
                        <a:sym typeface="Courier New"/>
                      </a:endParaRPr>
                    </a:p>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3,881</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$1.07</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10.12%</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175">
                <a:tc>
                  <a:txBody>
                    <a:bodyPr/>
                    <a:lstStyle/>
                    <a:p>
                      <a:pPr indent="0" lvl="0" marL="0" rtl="0" algn="l">
                        <a:lnSpc>
                          <a:spcPct val="115000"/>
                        </a:lnSpc>
                        <a:spcBef>
                          <a:spcPts val="0"/>
                        </a:spcBef>
                        <a:spcAft>
                          <a:spcPts val="0"/>
                        </a:spcAft>
                        <a:buNone/>
                      </a:pPr>
                      <a:r>
                        <a:rPr b="1" lang="en" sz="1300"/>
                        <a:t>Change %</a:t>
                      </a:r>
                      <a:endParaRPr b="1" sz="13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900"/>
                        <a:t>-35.91%</a:t>
                      </a:r>
                      <a:endParaRPr sz="9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-15.35%</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+187.22%</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-11.23%</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+7.71%</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Shopping Ads Overview - March </a:t>
            </a:r>
            <a:endParaRPr/>
          </a:p>
        </p:txBody>
      </p:sp>
      <p:graphicFrame>
        <p:nvGraphicFramePr>
          <p:cNvPr id="429" name="Google Shape;429;p77"/>
          <p:cNvGraphicFramePr/>
          <p:nvPr/>
        </p:nvGraphicFramePr>
        <p:xfrm>
          <a:off x="537500" y="619350"/>
          <a:ext cx="3000000" cy="3000000"/>
        </p:xfrm>
        <a:graphic>
          <a:graphicData uri="http://schemas.openxmlformats.org/drawingml/2006/table">
            <a:tbl>
              <a:tblPr>
                <a:noFill/>
                <a:tableStyleId>{7E530ABA-82E6-40B3-9370-665EBA873D1E}</a:tableStyleId>
              </a:tblPr>
              <a:tblGrid>
                <a:gridCol w="1037125"/>
                <a:gridCol w="1164150"/>
                <a:gridCol w="1045400"/>
                <a:gridCol w="1108875"/>
                <a:gridCol w="1051525"/>
              </a:tblGrid>
              <a:tr h="437625">
                <a:tc>
                  <a:txBody>
                    <a:bodyPr/>
                    <a:lstStyle/>
                    <a:p>
                      <a:pPr indent="0" lvl="0" marL="0" rtl="0" algn="ctr">
                        <a:lnSpc>
                          <a:spcPct val="115000"/>
                        </a:lnSpc>
                        <a:spcBef>
                          <a:spcPts val="0"/>
                        </a:spcBef>
                        <a:spcAft>
                          <a:spcPts val="0"/>
                        </a:spcAft>
                        <a:buNone/>
                      </a:pPr>
                      <a:r>
                        <a:rPr b="1" lang="en" sz="1200"/>
                        <a:t>Cost</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Impression</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Clicks</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CPC</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200"/>
                        <a:t>CTR</a:t>
                      </a:r>
                      <a:endParaRPr b="1" sz="12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77500">
                <a:tc>
                  <a:txBody>
                    <a:bodyPr/>
                    <a:lstStyle/>
                    <a:p>
                      <a:pPr indent="0" lvl="0" marL="0" rtl="0" algn="ctr">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430" name="Google Shape;430;p77"/>
          <p:cNvPicPr preferRelativeResize="0"/>
          <p:nvPr/>
        </p:nvPicPr>
        <p:blipFill>
          <a:blip r:embed="rId3">
            <a:alphaModFix/>
          </a:blip>
          <a:stretch>
            <a:fillRect/>
          </a:stretch>
        </p:blipFill>
        <p:spPr>
          <a:xfrm>
            <a:off x="537500" y="1576725"/>
            <a:ext cx="6115151" cy="3109957"/>
          </a:xfrm>
          <a:prstGeom prst="rect">
            <a:avLst/>
          </a:prstGeom>
          <a:noFill/>
          <a:ln cap="flat" cmpd="sng" w="9525">
            <a:solidFill>
              <a:schemeClr val="dk2"/>
            </a:solidFill>
            <a:prstDash val="solid"/>
            <a:round/>
            <a:headEnd len="sm" w="sm" type="none"/>
            <a:tailEnd len="sm" w="sm" type="none"/>
          </a:ln>
        </p:spPr>
      </p:pic>
      <p:sp>
        <p:nvSpPr>
          <p:cNvPr id="431" name="Google Shape;431;p77"/>
          <p:cNvSpPr txBox="1"/>
          <p:nvPr/>
        </p:nvSpPr>
        <p:spPr>
          <a:xfrm>
            <a:off x="7649300" y="2090375"/>
            <a:ext cx="1329900" cy="198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of live shopping ads</a:t>
            </a:r>
            <a:endParaRPr sz="1800">
              <a:solidFill>
                <a:schemeClr val="dk2"/>
              </a:solidFill>
            </a:endParaRPr>
          </a:p>
        </p:txBody>
      </p:sp>
      <p:cxnSp>
        <p:nvCxnSpPr>
          <p:cNvPr id="432" name="Google Shape;432;p77"/>
          <p:cNvCxnSpPr>
            <a:stCxn id="431" idx="1"/>
          </p:cNvCxnSpPr>
          <p:nvPr/>
        </p:nvCxnSpPr>
        <p:spPr>
          <a:xfrm flipH="1">
            <a:off x="6902000" y="3085025"/>
            <a:ext cx="747300" cy="1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Auction Insights - March </a:t>
            </a:r>
            <a:endParaRPr/>
          </a:p>
        </p:txBody>
      </p:sp>
      <p:sp>
        <p:nvSpPr>
          <p:cNvPr id="438" name="Google Shape;438;p78"/>
          <p:cNvSpPr txBox="1"/>
          <p:nvPr/>
        </p:nvSpPr>
        <p:spPr>
          <a:xfrm>
            <a:off x="155850" y="822025"/>
            <a:ext cx="6057900" cy="5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3"/>
              </a:rPr>
              <a:t>Auction Insights Report Link</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2" name="Shape 442"/>
        <p:cNvGrpSpPr/>
        <p:nvPr/>
      </p:nvGrpSpPr>
      <p:grpSpPr>
        <a:xfrm>
          <a:off x="0" y="0"/>
          <a:ext cx="0" cy="0"/>
          <a:chOff x="0" y="0"/>
          <a:chExt cx="0" cy="0"/>
        </a:xfrm>
      </p:grpSpPr>
      <p:sp>
        <p:nvSpPr>
          <p:cNvPr id="443" name="Google Shape;443;p79"/>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 Display Results - March </a:t>
            </a:r>
            <a:endParaRPr>
              <a:latin typeface="Roboto"/>
              <a:ea typeface="Roboto"/>
              <a:cs typeface="Roboto"/>
              <a:sym typeface="Roboto"/>
            </a:endParaRPr>
          </a:p>
        </p:txBody>
      </p:sp>
      <p:sp>
        <p:nvSpPr>
          <p:cNvPr id="444" name="Google Shape;444;p79"/>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45" name="Google Shape;445;p79"/>
          <p:cNvGraphicFramePr/>
          <p:nvPr/>
        </p:nvGraphicFramePr>
        <p:xfrm>
          <a:off x="21977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6" name="Google Shape;446;p79"/>
          <p:cNvGraphicFramePr/>
          <p:nvPr/>
        </p:nvGraphicFramePr>
        <p:xfrm>
          <a:off x="3016125"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47" name="Google Shape;447;p79"/>
          <p:cNvGraphicFramePr/>
          <p:nvPr/>
        </p:nvGraphicFramePr>
        <p:xfrm>
          <a:off x="6037100" y="736375"/>
          <a:ext cx="3000000" cy="3000000"/>
        </p:xfrm>
        <a:graphic>
          <a:graphicData uri="http://schemas.openxmlformats.org/drawingml/2006/table">
            <a:tbl>
              <a:tblPr>
                <a:noFill/>
                <a:tableStyleId>{7E530ABA-82E6-40B3-9370-665EBA873D1E}</a:tableStyleId>
              </a:tblPr>
              <a:tblGrid>
                <a:gridCol w="1181100"/>
                <a:gridCol w="1057275"/>
              </a:tblGrid>
              <a:tr h="209550">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Clicks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CPC</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CTR</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48" name="Google Shape;448;p79"/>
          <p:cNvPicPr preferRelativeResize="0"/>
          <p:nvPr/>
        </p:nvPicPr>
        <p:blipFill>
          <a:blip r:embed="rId3">
            <a:alphaModFix/>
          </a:blip>
          <a:stretch>
            <a:fillRect/>
          </a:stretch>
        </p:blipFill>
        <p:spPr>
          <a:xfrm>
            <a:off x="3016125" y="2399650"/>
            <a:ext cx="2238375" cy="221544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80"/>
          <p:cNvSpPr txBox="1"/>
          <p:nvPr>
            <p:ph type="title"/>
          </p:nvPr>
        </p:nvSpPr>
        <p:spPr>
          <a:xfrm>
            <a:off x="0" y="0"/>
            <a:ext cx="5721900" cy="391200"/>
          </a:xfrm>
          <a:prstGeom prst="rect">
            <a:avLst/>
          </a:prstGeom>
        </p:spPr>
        <p:txBody>
          <a:bodyPr anchorCtr="0" anchor="t" bIns="91425" lIns="91425" spcFirstLastPara="1" rIns="116975" wrap="square" tIns="91425">
            <a:normAutofit fontScale="90000"/>
          </a:bodyPr>
          <a:lstStyle/>
          <a:p>
            <a:pPr indent="0" lvl="0" marL="0" rtl="0" algn="l">
              <a:spcBef>
                <a:spcPts val="0"/>
              </a:spcBef>
              <a:spcAft>
                <a:spcPts val="0"/>
              </a:spcAft>
              <a:buNone/>
            </a:pPr>
            <a:r>
              <a:rPr lang="en"/>
              <a:t>YouTube Results - March </a:t>
            </a:r>
            <a:endParaRPr>
              <a:latin typeface="Roboto"/>
              <a:ea typeface="Roboto"/>
              <a:cs typeface="Roboto"/>
              <a:sym typeface="Roboto"/>
            </a:endParaRPr>
          </a:p>
        </p:txBody>
      </p:sp>
      <p:sp>
        <p:nvSpPr>
          <p:cNvPr id="454" name="Google Shape;454;p80"/>
          <p:cNvSpPr/>
          <p:nvPr/>
        </p:nvSpPr>
        <p:spPr>
          <a:xfrm>
            <a:off x="6957250" y="553550"/>
            <a:ext cx="1398300" cy="66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aphicFrame>
        <p:nvGraphicFramePr>
          <p:cNvPr id="455" name="Google Shape;455;p80"/>
          <p:cNvGraphicFramePr/>
          <p:nvPr/>
        </p:nvGraphicFramePr>
        <p:xfrm>
          <a:off x="5372600" y="525907"/>
          <a:ext cx="3000000" cy="3000000"/>
        </p:xfrm>
        <a:graphic>
          <a:graphicData uri="http://schemas.openxmlformats.org/drawingml/2006/table">
            <a:tbl>
              <a:tblPr>
                <a:noFill/>
                <a:tableStyleId>{7E530ABA-82E6-40B3-9370-665EBA873D1E}</a:tableStyleId>
              </a:tblPr>
              <a:tblGrid>
                <a:gridCol w="1575225"/>
                <a:gridCol w="899975"/>
              </a:tblGrid>
              <a:tr h="226175">
                <a:tc gridSpan="2">
                  <a:txBody>
                    <a:bodyPr/>
                    <a:lstStyle/>
                    <a:p>
                      <a:pPr indent="0" lvl="0" marL="0" rtl="0" algn="l">
                        <a:lnSpc>
                          <a:spcPct val="115000"/>
                        </a:lnSpc>
                        <a:spcBef>
                          <a:spcPts val="0"/>
                        </a:spcBef>
                        <a:spcAft>
                          <a:spcPts val="0"/>
                        </a:spcAft>
                        <a:buNone/>
                      </a:pPr>
                      <a:r>
                        <a:rPr b="1" lang="en" sz="1100"/>
                        <a:t>Iowa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73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73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6" name="Google Shape;456;p80"/>
          <p:cNvGraphicFramePr/>
          <p:nvPr/>
        </p:nvGraphicFramePr>
        <p:xfrm>
          <a:off x="2927850" y="525894"/>
          <a:ext cx="3000000" cy="3000000"/>
        </p:xfrm>
        <a:graphic>
          <a:graphicData uri="http://schemas.openxmlformats.org/drawingml/2006/table">
            <a:tbl>
              <a:tblPr>
                <a:noFill/>
                <a:tableStyleId>{7E530ABA-82E6-40B3-9370-665EBA873D1E}</a:tableStyleId>
              </a:tblPr>
              <a:tblGrid>
                <a:gridCol w="1181100"/>
                <a:gridCol w="1057275"/>
              </a:tblGrid>
              <a:tr h="201575">
                <a:tc gridSpan="2">
                  <a:txBody>
                    <a:bodyPr/>
                    <a:lstStyle/>
                    <a:p>
                      <a:pPr indent="0" lvl="0" marL="0" rtl="0" algn="l">
                        <a:lnSpc>
                          <a:spcPct val="115000"/>
                        </a:lnSpc>
                        <a:spcBef>
                          <a:spcPts val="0"/>
                        </a:spcBef>
                        <a:spcAft>
                          <a:spcPts val="0"/>
                        </a:spcAft>
                        <a:buNone/>
                      </a:pPr>
                      <a:r>
                        <a:rPr b="1" lang="en" sz="1100"/>
                        <a:t>Illinois</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599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599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8477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graphicFrame>
        <p:nvGraphicFramePr>
          <p:cNvPr id="457" name="Google Shape;457;p80"/>
          <p:cNvGraphicFramePr/>
          <p:nvPr/>
        </p:nvGraphicFramePr>
        <p:xfrm>
          <a:off x="403825" y="529550"/>
          <a:ext cx="3000000" cy="3000000"/>
        </p:xfrm>
        <a:graphic>
          <a:graphicData uri="http://schemas.openxmlformats.org/drawingml/2006/table">
            <a:tbl>
              <a:tblPr>
                <a:noFill/>
                <a:tableStyleId>{7E530ABA-82E6-40B3-9370-665EBA873D1E}</a:tableStyleId>
              </a:tblPr>
              <a:tblGrid>
                <a:gridCol w="1181100"/>
                <a:gridCol w="1057275"/>
              </a:tblGrid>
              <a:tr h="181250">
                <a:tc gridSpan="2">
                  <a:txBody>
                    <a:bodyPr/>
                    <a:lstStyle/>
                    <a:p>
                      <a:pPr indent="0" lvl="0" marL="0" rtl="0" algn="l">
                        <a:lnSpc>
                          <a:spcPct val="115000"/>
                        </a:lnSpc>
                        <a:spcBef>
                          <a:spcPts val="0"/>
                        </a:spcBef>
                        <a:spcAft>
                          <a:spcPts val="0"/>
                        </a:spcAft>
                        <a:buNone/>
                      </a:pPr>
                      <a:r>
                        <a:rPr b="1" lang="en" sz="1100"/>
                        <a:t>Indiana</a:t>
                      </a:r>
                      <a:endParaRPr b="1" sz="11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hMerge="1">
                  <a:txBody>
                    <a:bodyPr/>
                    <a:p/>
                  </a:txBody>
                </a:tc>
              </a:tr>
              <a:tr h="200025">
                <a:tc>
                  <a:txBody>
                    <a:bodyPr/>
                    <a:lstStyle/>
                    <a:p>
                      <a:pPr indent="0" lvl="0" marL="0" rtl="0" algn="l">
                        <a:lnSpc>
                          <a:spcPct val="115000"/>
                        </a:lnSpc>
                        <a:spcBef>
                          <a:spcPts val="0"/>
                        </a:spcBef>
                        <a:spcAft>
                          <a:spcPts val="0"/>
                        </a:spcAft>
                        <a:buNone/>
                      </a:pPr>
                      <a:r>
                        <a:rPr b="1" lang="en" sz="1000"/>
                        <a:t>Cost</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Impression</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Views</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Avg CPV</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n" sz="1000"/>
                        <a:t>View Rate</a:t>
                      </a:r>
                      <a:endParaRPr b="1" sz="10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pic>
        <p:nvPicPr>
          <p:cNvPr id="458" name="Google Shape;458;p80"/>
          <p:cNvPicPr preferRelativeResize="0"/>
          <p:nvPr/>
        </p:nvPicPr>
        <p:blipFill>
          <a:blip r:embed="rId3">
            <a:alphaModFix/>
          </a:blip>
          <a:stretch>
            <a:fillRect/>
          </a:stretch>
        </p:blipFill>
        <p:spPr>
          <a:xfrm>
            <a:off x="3897625" y="2442250"/>
            <a:ext cx="3463300" cy="1987900"/>
          </a:xfrm>
          <a:prstGeom prst="rect">
            <a:avLst/>
          </a:prstGeom>
          <a:noFill/>
          <a:ln>
            <a:noFill/>
          </a:ln>
        </p:spPr>
      </p:pic>
      <p:pic>
        <p:nvPicPr>
          <p:cNvPr id="459" name="Google Shape;459;p80"/>
          <p:cNvPicPr preferRelativeResize="0"/>
          <p:nvPr/>
        </p:nvPicPr>
        <p:blipFill>
          <a:blip r:embed="rId4">
            <a:alphaModFix/>
          </a:blip>
          <a:stretch>
            <a:fillRect/>
          </a:stretch>
        </p:blipFill>
        <p:spPr>
          <a:xfrm>
            <a:off x="178825" y="2448169"/>
            <a:ext cx="3592825" cy="19760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81"/>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OTT Results - March 2026</a:t>
            </a:r>
            <a:endParaRPr/>
          </a:p>
        </p:txBody>
      </p:sp>
      <p:graphicFrame>
        <p:nvGraphicFramePr>
          <p:cNvPr id="465" name="Google Shape;465;p81"/>
          <p:cNvGraphicFramePr/>
          <p:nvPr/>
        </p:nvGraphicFramePr>
        <p:xfrm>
          <a:off x="114775" y="880000"/>
          <a:ext cx="3000000" cy="3000000"/>
        </p:xfrm>
        <a:graphic>
          <a:graphicData uri="http://schemas.openxmlformats.org/drawingml/2006/table">
            <a:tbl>
              <a:tblPr>
                <a:noFill/>
                <a:tableStyleId>{7E530ABA-82E6-40B3-9370-665EBA873D1E}</a:tableStyleId>
              </a:tblPr>
              <a:tblGrid>
                <a:gridCol w="918125"/>
                <a:gridCol w="1735875"/>
                <a:gridCol w="1076200"/>
                <a:gridCol w="896350"/>
                <a:gridCol w="759900"/>
                <a:gridCol w="557475"/>
                <a:gridCol w="766000"/>
                <a:gridCol w="706425"/>
                <a:gridCol w="607125"/>
                <a:gridCol w="924700"/>
              </a:tblGrid>
              <a:tr h="381000">
                <a:tc>
                  <a:txBody>
                    <a:bodyPr/>
                    <a:lstStyle/>
                    <a:p>
                      <a:pPr indent="0" lvl="0" marL="0" rtl="0" algn="ctr">
                        <a:lnSpc>
                          <a:spcPct val="115000"/>
                        </a:lnSpc>
                        <a:spcBef>
                          <a:spcPts val="0"/>
                        </a:spcBef>
                        <a:spcAft>
                          <a:spcPts val="0"/>
                        </a:spcAft>
                        <a:buNone/>
                      </a:pPr>
                      <a:r>
                        <a:rPr b="1" lang="en" sz="1100"/>
                        <a:t>Campaign Type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Creative</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Impressions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Complete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VCR%</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CPV</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Sessions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Session</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1100"/>
                        <a:t>Cost Per Page Views</a:t>
                      </a:r>
                      <a:endParaRPr b="1" sz="1100"/>
                    </a:p>
                  </a:txBody>
                  <a:tcPr marT="19050" marB="19050"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00"/>
                    </a:solidFill>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100"/>
                        <a:t>OTT</a:t>
                      </a:r>
                      <a:endParaRPr sz="1100"/>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Campaign Overview</a:t>
            </a:r>
            <a:endParaRPr/>
          </a:p>
        </p:txBody>
      </p:sp>
      <p:sp>
        <p:nvSpPr>
          <p:cNvPr id="471" name="Google Shape;471;p82"/>
          <p:cNvSpPr/>
          <p:nvPr/>
        </p:nvSpPr>
        <p:spPr>
          <a:xfrm>
            <a:off x="5351950" y="88287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$50.12</a:t>
            </a:r>
            <a:endParaRPr b="1" sz="1800">
              <a:solidFill>
                <a:srgbClr val="595959"/>
              </a:solidFill>
              <a:latin typeface="Arial Black"/>
              <a:ea typeface="Arial Black"/>
              <a:cs typeface="Arial Black"/>
              <a:sym typeface="Arial Black"/>
            </a:endParaRPr>
          </a:p>
        </p:txBody>
      </p:sp>
      <p:sp>
        <p:nvSpPr>
          <p:cNvPr id="472" name="Google Shape;472;p82"/>
          <p:cNvSpPr/>
          <p:nvPr/>
        </p:nvSpPr>
        <p:spPr>
          <a:xfrm>
            <a:off x="5351800"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CPM</a:t>
            </a:r>
            <a:endParaRPr b="0" i="0" sz="900" u="none" cap="none" strike="noStrike">
              <a:solidFill>
                <a:srgbClr val="595959"/>
              </a:solidFill>
              <a:latin typeface="Calibri"/>
              <a:ea typeface="Calibri"/>
              <a:cs typeface="Calibri"/>
              <a:sym typeface="Calibri"/>
            </a:endParaRPr>
          </a:p>
        </p:txBody>
      </p:sp>
      <p:sp>
        <p:nvSpPr>
          <p:cNvPr id="473" name="Google Shape;473;p82"/>
          <p:cNvSpPr/>
          <p:nvPr/>
        </p:nvSpPr>
        <p:spPr>
          <a:xfrm>
            <a:off x="5351877" y="1652213"/>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97.5</a:t>
            </a:r>
            <a:r>
              <a:rPr b="1" i="0" lang="en" sz="1800" u="none" cap="none" strike="noStrike">
                <a:solidFill>
                  <a:srgbClr val="595959"/>
                </a:solidFill>
                <a:latin typeface="Arial Black"/>
                <a:ea typeface="Arial Black"/>
                <a:cs typeface="Arial Black"/>
                <a:sym typeface="Arial Black"/>
              </a:rPr>
              <a:t>%</a:t>
            </a:r>
            <a:endParaRPr b="0" i="0" sz="1800" u="none" cap="none" strike="noStrike">
              <a:solidFill>
                <a:srgbClr val="595959"/>
              </a:solidFill>
              <a:latin typeface="Calibri"/>
              <a:ea typeface="Calibri"/>
              <a:cs typeface="Calibri"/>
              <a:sym typeface="Calibri"/>
            </a:endParaRPr>
          </a:p>
        </p:txBody>
      </p:sp>
      <p:sp>
        <p:nvSpPr>
          <p:cNvPr id="474" name="Google Shape;474;p82"/>
          <p:cNvSpPr/>
          <p:nvPr/>
        </p:nvSpPr>
        <p:spPr>
          <a:xfrm>
            <a:off x="5351877" y="1972263"/>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View-Through Rate</a:t>
            </a:r>
            <a:endParaRPr b="0" i="0" sz="900" u="none" cap="none" strike="noStrike">
              <a:solidFill>
                <a:srgbClr val="595959"/>
              </a:solidFill>
              <a:latin typeface="Calibri"/>
              <a:ea typeface="Calibri"/>
              <a:cs typeface="Calibri"/>
              <a:sym typeface="Calibri"/>
            </a:endParaRPr>
          </a:p>
        </p:txBody>
      </p:sp>
      <p:sp>
        <p:nvSpPr>
          <p:cNvPr id="475" name="Google Shape;475;p82"/>
          <p:cNvSpPr/>
          <p:nvPr/>
        </p:nvSpPr>
        <p:spPr>
          <a:xfrm>
            <a:off x="7069749" y="882875"/>
            <a:ext cx="15273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800"/>
              <a:buFont typeface="Arial Black"/>
              <a:buNone/>
            </a:pPr>
            <a:r>
              <a:rPr b="1" lang="en" sz="1800">
                <a:solidFill>
                  <a:srgbClr val="595959"/>
                </a:solidFill>
                <a:latin typeface="Arial Black"/>
                <a:ea typeface="Arial Black"/>
                <a:cs typeface="Arial Black"/>
                <a:sym typeface="Arial Black"/>
              </a:rPr>
              <a:t>1.83</a:t>
            </a:r>
            <a:r>
              <a:rPr b="1" i="0" lang="en" sz="1800" u="none" cap="none" strike="noStrike">
                <a:solidFill>
                  <a:srgbClr val="595959"/>
                </a:solidFill>
                <a:latin typeface="Arial Black"/>
                <a:ea typeface="Arial Black"/>
                <a:cs typeface="Arial Black"/>
                <a:sym typeface="Arial Black"/>
              </a:rPr>
              <a:t>x</a:t>
            </a:r>
            <a:endParaRPr b="0" i="0" sz="1800" u="none" cap="none" strike="noStrike">
              <a:solidFill>
                <a:srgbClr val="595959"/>
              </a:solidFill>
              <a:latin typeface="Calibri"/>
              <a:ea typeface="Calibri"/>
              <a:cs typeface="Calibri"/>
              <a:sym typeface="Calibri"/>
            </a:endParaRPr>
          </a:p>
        </p:txBody>
      </p:sp>
      <p:sp>
        <p:nvSpPr>
          <p:cNvPr id="476" name="Google Shape;476;p82"/>
          <p:cNvSpPr/>
          <p:nvPr/>
        </p:nvSpPr>
        <p:spPr>
          <a:xfrm>
            <a:off x="7069749" y="120292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Avg Frequency</a:t>
            </a:r>
            <a:endParaRPr b="0" i="0" sz="900" u="none" cap="none" strike="noStrike">
              <a:solidFill>
                <a:srgbClr val="595959"/>
              </a:solidFill>
              <a:latin typeface="Calibri"/>
              <a:ea typeface="Calibri"/>
              <a:cs typeface="Calibri"/>
              <a:sym typeface="Calibri"/>
            </a:endParaRPr>
          </a:p>
        </p:txBody>
      </p:sp>
      <p:sp>
        <p:nvSpPr>
          <p:cNvPr id="477" name="Google Shape;477;p82"/>
          <p:cNvSpPr/>
          <p:nvPr/>
        </p:nvSpPr>
        <p:spPr>
          <a:xfrm>
            <a:off x="7069751" y="1652225"/>
            <a:ext cx="15273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1800">
                <a:solidFill>
                  <a:srgbClr val="595959"/>
                </a:solidFill>
                <a:latin typeface="Arial Black"/>
                <a:ea typeface="Arial Black"/>
                <a:cs typeface="Arial Black"/>
                <a:sym typeface="Arial Black"/>
              </a:rPr>
              <a:t>1,745</a:t>
            </a:r>
            <a:endParaRPr b="1" sz="1800">
              <a:solidFill>
                <a:srgbClr val="595959"/>
              </a:solidFill>
              <a:latin typeface="Arial Black"/>
              <a:ea typeface="Arial Black"/>
              <a:cs typeface="Arial Black"/>
              <a:sym typeface="Arial Black"/>
            </a:endParaRPr>
          </a:p>
        </p:txBody>
      </p:sp>
      <p:sp>
        <p:nvSpPr>
          <p:cNvPr id="478" name="Google Shape;478;p82"/>
          <p:cNvSpPr/>
          <p:nvPr/>
        </p:nvSpPr>
        <p:spPr>
          <a:xfrm>
            <a:off x="7069751" y="1972275"/>
            <a:ext cx="15273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900"/>
              <a:buFont typeface="Calibri"/>
              <a:buNone/>
            </a:pPr>
            <a:r>
              <a:rPr b="0" i="0" lang="en" sz="900" u="none" cap="none" strike="noStrike">
                <a:solidFill>
                  <a:srgbClr val="595959"/>
                </a:solidFill>
                <a:latin typeface="Calibri"/>
                <a:ea typeface="Calibri"/>
                <a:cs typeface="Calibri"/>
                <a:sym typeface="Calibri"/>
              </a:rPr>
              <a:t>Page Views</a:t>
            </a:r>
            <a:endParaRPr b="0" i="0" sz="900" u="none" cap="none" strike="noStrike">
              <a:solidFill>
                <a:srgbClr val="595959"/>
              </a:solidFill>
              <a:latin typeface="Calibri"/>
              <a:ea typeface="Calibri"/>
              <a:cs typeface="Calibri"/>
              <a:sym typeface="Calibri"/>
            </a:endParaRPr>
          </a:p>
        </p:txBody>
      </p:sp>
      <p:grpSp>
        <p:nvGrpSpPr>
          <p:cNvPr id="479" name="Google Shape;479;p82"/>
          <p:cNvGrpSpPr/>
          <p:nvPr/>
        </p:nvGrpSpPr>
        <p:grpSpPr>
          <a:xfrm>
            <a:off x="334308" y="1991223"/>
            <a:ext cx="2011800" cy="1005900"/>
            <a:chOff x="334308" y="795460"/>
            <a:chExt cx="2011800" cy="1005900"/>
          </a:xfrm>
        </p:grpSpPr>
        <p:sp>
          <p:nvSpPr>
            <p:cNvPr id="480" name="Google Shape;480;p82"/>
            <p:cNvSpPr/>
            <p:nvPr/>
          </p:nvSpPr>
          <p:spPr>
            <a:xfrm>
              <a:off x="334308"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82"/>
            <p:cNvSpPr/>
            <p:nvPr/>
          </p:nvSpPr>
          <p:spPr>
            <a:xfrm>
              <a:off x="334308"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82"/>
            <p:cNvSpPr/>
            <p:nvPr/>
          </p:nvSpPr>
          <p:spPr>
            <a:xfrm>
              <a:off x="334308"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43,780</a:t>
              </a:r>
              <a:endParaRPr sz="3000">
                <a:solidFill>
                  <a:srgbClr val="000000"/>
                </a:solidFill>
                <a:latin typeface="Calibri"/>
                <a:ea typeface="Calibri"/>
                <a:cs typeface="Calibri"/>
                <a:sym typeface="Calibri"/>
              </a:endParaRPr>
            </a:p>
          </p:txBody>
        </p:sp>
        <p:sp>
          <p:nvSpPr>
            <p:cNvPr id="483" name="Google Shape;483;p82"/>
            <p:cNvSpPr/>
            <p:nvPr/>
          </p:nvSpPr>
          <p:spPr>
            <a:xfrm>
              <a:off x="334308"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Impressions</a:t>
              </a:r>
              <a:endParaRPr sz="1000">
                <a:solidFill>
                  <a:srgbClr val="000000"/>
                </a:solidFill>
                <a:latin typeface="Calibri"/>
                <a:ea typeface="Calibri"/>
                <a:cs typeface="Calibri"/>
                <a:sym typeface="Calibri"/>
              </a:endParaRPr>
            </a:p>
          </p:txBody>
        </p:sp>
      </p:grpSp>
      <p:grpSp>
        <p:nvGrpSpPr>
          <p:cNvPr id="484" name="Google Shape;484;p82"/>
          <p:cNvGrpSpPr/>
          <p:nvPr/>
        </p:nvGrpSpPr>
        <p:grpSpPr>
          <a:xfrm>
            <a:off x="2678534" y="795460"/>
            <a:ext cx="2011800" cy="1005900"/>
            <a:chOff x="2817534" y="795460"/>
            <a:chExt cx="2011800" cy="1005900"/>
          </a:xfrm>
        </p:grpSpPr>
        <p:sp>
          <p:nvSpPr>
            <p:cNvPr id="485" name="Google Shape;485;p82"/>
            <p:cNvSpPr/>
            <p:nvPr/>
          </p:nvSpPr>
          <p:spPr>
            <a:xfrm>
              <a:off x="2817534" y="79546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82"/>
            <p:cNvSpPr/>
            <p:nvPr/>
          </p:nvSpPr>
          <p:spPr>
            <a:xfrm>
              <a:off x="2817534" y="79546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82"/>
            <p:cNvSpPr/>
            <p:nvPr/>
          </p:nvSpPr>
          <p:spPr>
            <a:xfrm>
              <a:off x="2817534" y="90518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24,023</a:t>
              </a:r>
              <a:endParaRPr sz="3000">
                <a:solidFill>
                  <a:srgbClr val="000000"/>
                </a:solidFill>
                <a:latin typeface="Calibri"/>
                <a:ea typeface="Calibri"/>
                <a:cs typeface="Calibri"/>
                <a:sym typeface="Calibri"/>
              </a:endParaRPr>
            </a:p>
          </p:txBody>
        </p:sp>
        <p:sp>
          <p:nvSpPr>
            <p:cNvPr id="488" name="Google Shape;488;p82"/>
            <p:cNvSpPr/>
            <p:nvPr/>
          </p:nvSpPr>
          <p:spPr>
            <a:xfrm>
              <a:off x="2817534" y="138982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Households Reached</a:t>
              </a:r>
              <a:endParaRPr sz="1000">
                <a:solidFill>
                  <a:srgbClr val="000000"/>
                </a:solidFill>
                <a:latin typeface="Calibri"/>
                <a:ea typeface="Calibri"/>
                <a:cs typeface="Calibri"/>
                <a:sym typeface="Calibri"/>
              </a:endParaRPr>
            </a:p>
          </p:txBody>
        </p:sp>
      </p:grpSp>
      <p:grpSp>
        <p:nvGrpSpPr>
          <p:cNvPr id="489" name="Google Shape;489;p82"/>
          <p:cNvGrpSpPr/>
          <p:nvPr/>
        </p:nvGrpSpPr>
        <p:grpSpPr>
          <a:xfrm>
            <a:off x="2678520" y="1991230"/>
            <a:ext cx="2011800" cy="1005900"/>
            <a:chOff x="274320" y="2011680"/>
            <a:chExt cx="2011800" cy="1005900"/>
          </a:xfrm>
        </p:grpSpPr>
        <p:sp>
          <p:nvSpPr>
            <p:cNvPr id="490" name="Google Shape;490;p82"/>
            <p:cNvSpPr/>
            <p:nvPr/>
          </p:nvSpPr>
          <p:spPr>
            <a:xfrm>
              <a:off x="274320" y="201168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82"/>
            <p:cNvSpPr/>
            <p:nvPr/>
          </p:nvSpPr>
          <p:spPr>
            <a:xfrm>
              <a:off x="274320" y="201168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82"/>
            <p:cNvSpPr/>
            <p:nvPr/>
          </p:nvSpPr>
          <p:spPr>
            <a:xfrm>
              <a:off x="274320" y="212140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874</a:t>
              </a:r>
              <a:endParaRPr sz="3000">
                <a:solidFill>
                  <a:srgbClr val="000000"/>
                </a:solidFill>
                <a:latin typeface="Calibri"/>
                <a:ea typeface="Calibri"/>
                <a:cs typeface="Calibri"/>
                <a:sym typeface="Calibri"/>
              </a:endParaRPr>
            </a:p>
          </p:txBody>
        </p:sp>
        <p:sp>
          <p:nvSpPr>
            <p:cNvPr id="493" name="Google Shape;493;p82"/>
            <p:cNvSpPr/>
            <p:nvPr/>
          </p:nvSpPr>
          <p:spPr>
            <a:xfrm>
              <a:off x="274320" y="260604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Web Sessions</a:t>
              </a:r>
              <a:endParaRPr sz="1000">
                <a:solidFill>
                  <a:srgbClr val="000000"/>
                </a:solidFill>
                <a:latin typeface="Calibri"/>
                <a:ea typeface="Calibri"/>
                <a:cs typeface="Calibri"/>
                <a:sym typeface="Calibri"/>
              </a:endParaRPr>
            </a:p>
          </p:txBody>
        </p:sp>
      </p:grpSp>
      <p:grpSp>
        <p:nvGrpSpPr>
          <p:cNvPr id="494" name="Google Shape;494;p82"/>
          <p:cNvGrpSpPr/>
          <p:nvPr/>
        </p:nvGrpSpPr>
        <p:grpSpPr>
          <a:xfrm>
            <a:off x="334295" y="795460"/>
            <a:ext cx="2011800" cy="1005900"/>
            <a:chOff x="2678520" y="2011685"/>
            <a:chExt cx="2011800" cy="1005900"/>
          </a:xfrm>
        </p:grpSpPr>
        <p:sp>
          <p:nvSpPr>
            <p:cNvPr id="495" name="Google Shape;495;p82"/>
            <p:cNvSpPr/>
            <p:nvPr/>
          </p:nvSpPr>
          <p:spPr>
            <a:xfrm>
              <a:off x="2678520" y="201168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82"/>
            <p:cNvSpPr/>
            <p:nvPr/>
          </p:nvSpPr>
          <p:spPr>
            <a:xfrm>
              <a:off x="2678520" y="201168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82"/>
            <p:cNvSpPr/>
            <p:nvPr/>
          </p:nvSpPr>
          <p:spPr>
            <a:xfrm>
              <a:off x="2678520" y="212141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$2,500</a:t>
              </a:r>
              <a:endParaRPr sz="3000">
                <a:solidFill>
                  <a:srgbClr val="000000"/>
                </a:solidFill>
                <a:latin typeface="Calibri"/>
                <a:ea typeface="Calibri"/>
                <a:cs typeface="Calibri"/>
                <a:sym typeface="Calibri"/>
              </a:endParaRPr>
            </a:p>
          </p:txBody>
        </p:sp>
        <p:sp>
          <p:nvSpPr>
            <p:cNvPr id="498" name="Google Shape;498;p82"/>
            <p:cNvSpPr/>
            <p:nvPr/>
          </p:nvSpPr>
          <p:spPr>
            <a:xfrm>
              <a:off x="2678520" y="260604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Total Spend</a:t>
              </a:r>
              <a:endParaRPr sz="1000">
                <a:solidFill>
                  <a:srgbClr val="000000"/>
                </a:solidFill>
                <a:latin typeface="Calibri"/>
                <a:ea typeface="Calibri"/>
                <a:cs typeface="Calibri"/>
                <a:sym typeface="Calibri"/>
              </a:endParaRPr>
            </a:p>
          </p:txBody>
        </p:sp>
        <p:sp>
          <p:nvSpPr>
            <p:cNvPr id="499" name="Google Shape;499;p82"/>
            <p:cNvSpPr/>
            <p:nvPr/>
          </p:nvSpPr>
          <p:spPr>
            <a:xfrm>
              <a:off x="2678520" y="2816357"/>
              <a:ext cx="2011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IN + IA + IL</a:t>
              </a:r>
              <a:endParaRPr sz="900">
                <a:solidFill>
                  <a:srgbClr val="000000"/>
                </a:solidFill>
                <a:latin typeface="Calibri"/>
                <a:ea typeface="Calibri"/>
                <a:cs typeface="Calibri"/>
                <a:sym typeface="Calibri"/>
              </a:endParaRPr>
            </a:p>
          </p:txBody>
        </p:sp>
      </p:grpSp>
      <p:grpSp>
        <p:nvGrpSpPr>
          <p:cNvPr id="500" name="Google Shape;500;p82"/>
          <p:cNvGrpSpPr/>
          <p:nvPr/>
        </p:nvGrpSpPr>
        <p:grpSpPr>
          <a:xfrm>
            <a:off x="334296" y="3187010"/>
            <a:ext cx="2011800" cy="1005900"/>
            <a:chOff x="334296" y="3305335"/>
            <a:chExt cx="2011800" cy="1005900"/>
          </a:xfrm>
        </p:grpSpPr>
        <p:sp>
          <p:nvSpPr>
            <p:cNvPr id="501" name="Google Shape;501;p82"/>
            <p:cNvSpPr/>
            <p:nvPr/>
          </p:nvSpPr>
          <p:spPr>
            <a:xfrm>
              <a:off x="334296" y="3305335"/>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82"/>
            <p:cNvSpPr/>
            <p:nvPr/>
          </p:nvSpPr>
          <p:spPr>
            <a:xfrm>
              <a:off x="334296" y="3305335"/>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82"/>
            <p:cNvSpPr/>
            <p:nvPr/>
          </p:nvSpPr>
          <p:spPr>
            <a:xfrm>
              <a:off x="334296" y="3415063"/>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42,668</a:t>
              </a:r>
              <a:endParaRPr sz="3000">
                <a:solidFill>
                  <a:srgbClr val="000000"/>
                </a:solidFill>
                <a:latin typeface="Calibri"/>
                <a:ea typeface="Calibri"/>
                <a:cs typeface="Calibri"/>
                <a:sym typeface="Calibri"/>
              </a:endParaRPr>
            </a:p>
          </p:txBody>
        </p:sp>
        <p:sp>
          <p:nvSpPr>
            <p:cNvPr id="504" name="Google Shape;504;p82"/>
            <p:cNvSpPr/>
            <p:nvPr/>
          </p:nvSpPr>
          <p:spPr>
            <a:xfrm>
              <a:off x="334296" y="3899695"/>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Completed Views</a:t>
              </a:r>
              <a:endParaRPr sz="1000">
                <a:solidFill>
                  <a:srgbClr val="000000"/>
                </a:solidFill>
                <a:latin typeface="Calibri"/>
                <a:ea typeface="Calibri"/>
                <a:cs typeface="Calibri"/>
                <a:sym typeface="Calibri"/>
              </a:endParaRPr>
            </a:p>
          </p:txBody>
        </p:sp>
      </p:grpSp>
      <p:grpSp>
        <p:nvGrpSpPr>
          <p:cNvPr id="505" name="Google Shape;505;p82"/>
          <p:cNvGrpSpPr/>
          <p:nvPr/>
        </p:nvGrpSpPr>
        <p:grpSpPr>
          <a:xfrm>
            <a:off x="2678521" y="3187005"/>
            <a:ext cx="2011800" cy="1005900"/>
            <a:chOff x="2678521" y="3305330"/>
            <a:chExt cx="2011800" cy="1005900"/>
          </a:xfrm>
        </p:grpSpPr>
        <p:sp>
          <p:nvSpPr>
            <p:cNvPr id="506" name="Google Shape;506;p82"/>
            <p:cNvSpPr/>
            <p:nvPr/>
          </p:nvSpPr>
          <p:spPr>
            <a:xfrm>
              <a:off x="2678521" y="3305330"/>
              <a:ext cx="2011800" cy="1005900"/>
            </a:xfrm>
            <a:prstGeom prst="rect">
              <a:avLst/>
            </a:prstGeom>
            <a:solidFill>
              <a:srgbClr val="FFFFFF"/>
            </a:solidFill>
            <a:ln cap="flat" cmpd="sng" w="9525">
              <a:solidFill>
                <a:srgbClr val="E2E8F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82"/>
            <p:cNvSpPr/>
            <p:nvPr/>
          </p:nvSpPr>
          <p:spPr>
            <a:xfrm>
              <a:off x="2678521" y="3305330"/>
              <a:ext cx="2011800" cy="63900"/>
            </a:xfrm>
            <a:prstGeom prst="rect">
              <a:avLst/>
            </a:prstGeom>
            <a:solidFill>
              <a:srgbClr val="548135"/>
            </a:solidFill>
            <a:ln cap="flat" cmpd="sng" w="12700">
              <a:solidFill>
                <a:srgbClr val="54813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82"/>
            <p:cNvSpPr/>
            <p:nvPr/>
          </p:nvSpPr>
          <p:spPr>
            <a:xfrm>
              <a:off x="2678521" y="3415058"/>
              <a:ext cx="2011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40"/>
                </a:buClr>
                <a:buSzPts val="3000"/>
                <a:buFont typeface="Georgia"/>
                <a:buNone/>
              </a:pPr>
              <a:r>
                <a:rPr b="1" lang="en" sz="3000">
                  <a:solidFill>
                    <a:srgbClr val="0D1B40"/>
                  </a:solidFill>
                  <a:latin typeface="Georgia"/>
                  <a:ea typeface="Georgia"/>
                  <a:cs typeface="Georgia"/>
                  <a:sym typeface="Georgia"/>
                </a:rPr>
                <a:t>$0.05</a:t>
              </a:r>
              <a:endParaRPr sz="3000">
                <a:solidFill>
                  <a:srgbClr val="000000"/>
                </a:solidFill>
                <a:latin typeface="Calibri"/>
                <a:ea typeface="Calibri"/>
                <a:cs typeface="Calibri"/>
                <a:sym typeface="Calibri"/>
              </a:endParaRPr>
            </a:p>
          </p:txBody>
        </p:sp>
        <p:sp>
          <p:nvSpPr>
            <p:cNvPr id="509" name="Google Shape;509;p82"/>
            <p:cNvSpPr/>
            <p:nvPr/>
          </p:nvSpPr>
          <p:spPr>
            <a:xfrm>
              <a:off x="2678521" y="3899690"/>
              <a:ext cx="2011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1000"/>
                <a:buFont typeface="Calibri"/>
                <a:buNone/>
              </a:pPr>
              <a:r>
                <a:rPr b="1" lang="en" sz="1000">
                  <a:solidFill>
                    <a:srgbClr val="64748B"/>
                  </a:solidFill>
                  <a:latin typeface="Calibri"/>
                  <a:ea typeface="Calibri"/>
                  <a:cs typeface="Calibri"/>
                  <a:sym typeface="Calibri"/>
                </a:rPr>
                <a:t>Avg Cost Per View</a:t>
              </a:r>
              <a:endParaRPr sz="1000">
                <a:solidFill>
                  <a:srgbClr val="000000"/>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3"/>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Top Placement Breakdown</a:t>
            </a:r>
            <a:endParaRPr/>
          </a:p>
        </p:txBody>
      </p:sp>
      <p:pic>
        <p:nvPicPr>
          <p:cNvPr id="515" name="Google Shape;515;p83" title="Screenshot 2026-03-31 at 4.07.15 PM.png"/>
          <p:cNvPicPr preferRelativeResize="0"/>
          <p:nvPr/>
        </p:nvPicPr>
        <p:blipFill>
          <a:blip r:embed="rId3">
            <a:alphaModFix/>
          </a:blip>
          <a:stretch>
            <a:fillRect/>
          </a:stretch>
        </p:blipFill>
        <p:spPr>
          <a:xfrm>
            <a:off x="152400" y="529500"/>
            <a:ext cx="8839204" cy="4216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4"/>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OTT / Web Session Performance</a:t>
            </a:r>
            <a:endParaRPr/>
          </a:p>
        </p:txBody>
      </p:sp>
      <p:graphicFrame>
        <p:nvGraphicFramePr>
          <p:cNvPr id="521" name="Google Shape;521;p84"/>
          <p:cNvGraphicFramePr/>
          <p:nvPr/>
        </p:nvGraphicFramePr>
        <p:xfrm>
          <a:off x="131513"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Indiana</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Clr>
                          <a:schemeClr val="dk1"/>
                        </a:buClr>
                        <a:buSzPts val="1100"/>
                        <a:buFont typeface="Arial"/>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solidFill>
                            <a:schemeClr val="dk1"/>
                          </a:solidFill>
                        </a:rPr>
                        <a:t>46750</a:t>
                      </a:r>
                      <a:endParaRPr sz="800"/>
                    </a:p>
                  </a:txBody>
                  <a:tcPr marT="91425" marB="91425" marR="91425" marL="91425" anchor="ctr"/>
                </a:tc>
                <a:tc>
                  <a:txBody>
                    <a:bodyPr/>
                    <a:lstStyle/>
                    <a:p>
                      <a:pPr indent="0" lvl="0" marL="0" rtl="0" algn="ctr">
                        <a:spcBef>
                          <a:spcPts val="0"/>
                        </a:spcBef>
                        <a:spcAft>
                          <a:spcPts val="0"/>
                        </a:spcAft>
                        <a:buNone/>
                      </a:pPr>
                      <a:r>
                        <a:rPr lang="en" sz="800"/>
                        <a:t>Huntington</a:t>
                      </a:r>
                      <a:endParaRPr sz="800"/>
                    </a:p>
                  </a:txBody>
                  <a:tcPr marT="91425" marB="91425" marR="91425" marL="91425" anchor="ctr"/>
                </a:tc>
                <a:tc>
                  <a:txBody>
                    <a:bodyPr/>
                    <a:lstStyle/>
                    <a:p>
                      <a:pPr indent="0" lvl="0" marL="0" rtl="0" algn="ctr">
                        <a:spcBef>
                          <a:spcPts val="0"/>
                        </a:spcBef>
                        <a:spcAft>
                          <a:spcPts val="0"/>
                        </a:spcAft>
                        <a:buNone/>
                      </a:pPr>
                      <a:r>
                        <a:rPr lang="en" sz="800"/>
                        <a:t>70</a:t>
                      </a:r>
                      <a:endParaRPr sz="800"/>
                    </a:p>
                  </a:txBody>
                  <a:tcPr marT="91425" marB="91425" marR="91425" marL="91425" anchor="ctr"/>
                </a:tc>
                <a:tc>
                  <a:txBody>
                    <a:bodyPr/>
                    <a:lstStyle/>
                    <a:p>
                      <a:pPr indent="0" lvl="0" marL="0" rtl="0" algn="ctr">
                        <a:spcBef>
                          <a:spcPts val="0"/>
                        </a:spcBef>
                        <a:spcAft>
                          <a:spcPts val="0"/>
                        </a:spcAft>
                        <a:buNone/>
                      </a:pPr>
                      <a:r>
                        <a:rPr lang="en" sz="800"/>
                        <a:t>3,591</a:t>
                      </a:r>
                      <a:endParaRPr sz="800"/>
                    </a:p>
                  </a:txBody>
                  <a:tcPr marT="91425" marB="91425" marR="91425" marL="91425" anchor="ctr"/>
                </a:tc>
              </a:tr>
              <a:tr h="361600">
                <a:tc>
                  <a:txBody>
                    <a:bodyPr/>
                    <a:lstStyle/>
                    <a:p>
                      <a:pPr indent="0" lvl="0" marL="0" rtl="0" algn="ctr">
                        <a:spcBef>
                          <a:spcPts val="0"/>
                        </a:spcBef>
                        <a:spcAft>
                          <a:spcPts val="0"/>
                        </a:spcAft>
                        <a:buNone/>
                      </a:pPr>
                      <a:r>
                        <a:rPr lang="en" sz="800"/>
                        <a:t>46953</a:t>
                      </a:r>
                      <a:endParaRPr sz="800"/>
                    </a:p>
                  </a:txBody>
                  <a:tcPr marT="91425" marB="91425" marR="91425" marL="91425" anchor="ctr"/>
                </a:tc>
                <a:tc>
                  <a:txBody>
                    <a:bodyPr/>
                    <a:lstStyle/>
                    <a:p>
                      <a:pPr indent="0" lvl="0" marL="0" rtl="0" algn="ctr">
                        <a:spcBef>
                          <a:spcPts val="0"/>
                        </a:spcBef>
                        <a:spcAft>
                          <a:spcPts val="0"/>
                        </a:spcAft>
                        <a:buNone/>
                      </a:pPr>
                      <a:r>
                        <a:rPr lang="en" sz="800"/>
                        <a:t>Marion</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3,051</a:t>
                      </a:r>
                      <a:endParaRPr sz="800"/>
                    </a:p>
                  </a:txBody>
                  <a:tcPr marT="91425" marB="91425" marR="91425" marL="91425" anchor="ctr"/>
                </a:tc>
              </a:tr>
              <a:tr h="361600">
                <a:tc>
                  <a:txBody>
                    <a:bodyPr/>
                    <a:lstStyle/>
                    <a:p>
                      <a:pPr indent="0" lvl="0" marL="0" rtl="0" algn="ctr">
                        <a:spcBef>
                          <a:spcPts val="0"/>
                        </a:spcBef>
                        <a:spcAft>
                          <a:spcPts val="0"/>
                        </a:spcAft>
                        <a:buNone/>
                      </a:pPr>
                      <a:r>
                        <a:rPr lang="en" sz="800"/>
                        <a:t>46992</a:t>
                      </a:r>
                      <a:endParaRPr sz="800"/>
                    </a:p>
                  </a:txBody>
                  <a:tcPr marT="91425" marB="91425" marR="91425" marL="91425" anchor="ctr"/>
                </a:tc>
                <a:tc>
                  <a:txBody>
                    <a:bodyPr/>
                    <a:lstStyle/>
                    <a:p>
                      <a:pPr indent="0" lvl="0" marL="0" rtl="0" algn="ctr">
                        <a:spcBef>
                          <a:spcPts val="0"/>
                        </a:spcBef>
                        <a:spcAft>
                          <a:spcPts val="0"/>
                        </a:spcAft>
                        <a:buNone/>
                      </a:pPr>
                      <a:r>
                        <a:rPr lang="en" sz="800"/>
                        <a:t>Wabash</a:t>
                      </a:r>
                      <a:endParaRPr sz="800"/>
                    </a:p>
                  </a:txBody>
                  <a:tcPr marT="91425" marB="91425" marR="91425" marL="91425" anchor="ctr"/>
                </a:tc>
                <a:tc>
                  <a:txBody>
                    <a:bodyPr/>
                    <a:lstStyle/>
                    <a:p>
                      <a:pPr indent="0" lvl="0" marL="0" rtl="0" algn="ctr">
                        <a:spcBef>
                          <a:spcPts val="0"/>
                        </a:spcBef>
                        <a:spcAft>
                          <a:spcPts val="0"/>
                        </a:spcAft>
                        <a:buNone/>
                      </a:pPr>
                      <a:r>
                        <a:rPr lang="en" sz="800"/>
                        <a:t>60</a:t>
                      </a:r>
                      <a:endParaRPr sz="800"/>
                    </a:p>
                  </a:txBody>
                  <a:tcPr marT="91425" marB="91425" marR="91425" marL="91425" anchor="ctr"/>
                </a:tc>
                <a:tc>
                  <a:txBody>
                    <a:bodyPr/>
                    <a:lstStyle/>
                    <a:p>
                      <a:pPr indent="0" lvl="0" marL="0" rtl="0" algn="ctr">
                        <a:spcBef>
                          <a:spcPts val="0"/>
                        </a:spcBef>
                        <a:spcAft>
                          <a:spcPts val="0"/>
                        </a:spcAft>
                        <a:buNone/>
                      </a:pPr>
                      <a:r>
                        <a:rPr lang="en" sz="800"/>
                        <a:t>3,187</a:t>
                      </a:r>
                      <a:endParaRPr sz="800"/>
                    </a:p>
                  </a:txBody>
                  <a:tcPr marT="91425" marB="91425" marR="91425" marL="91425" anchor="ctr"/>
                </a:tc>
              </a:tr>
            </a:tbl>
          </a:graphicData>
        </a:graphic>
      </p:graphicFrame>
      <p:graphicFrame>
        <p:nvGraphicFramePr>
          <p:cNvPr id="522" name="Google Shape;522;p84"/>
          <p:cNvGraphicFramePr/>
          <p:nvPr/>
        </p:nvGraphicFramePr>
        <p:xfrm>
          <a:off x="3136000" y="2571751"/>
          <a:ext cx="3000000" cy="3000000"/>
        </p:xfrm>
        <a:graphic>
          <a:graphicData uri="http://schemas.openxmlformats.org/drawingml/2006/table">
            <a:tbl>
              <a:tblPr>
                <a:noFill/>
                <a:tableStyleId>{12582AF7-009F-48A2-9A44-981834622FC7}</a:tableStyleId>
              </a:tblPr>
              <a:tblGrid>
                <a:gridCol w="524300"/>
                <a:gridCol w="777475"/>
                <a:gridCol w="689275"/>
                <a:gridCol w="880925"/>
              </a:tblGrid>
              <a:tr h="361600">
                <a:tc gridSpan="4">
                  <a:txBody>
                    <a:bodyPr/>
                    <a:lstStyle/>
                    <a:p>
                      <a:pPr indent="0" lvl="0" marL="0" rtl="0" algn="ctr">
                        <a:spcBef>
                          <a:spcPts val="0"/>
                        </a:spcBef>
                        <a:spcAft>
                          <a:spcPts val="0"/>
                        </a:spcAft>
                        <a:buNone/>
                      </a:pPr>
                      <a:r>
                        <a:rPr b="1" lang="en">
                          <a:solidFill>
                            <a:schemeClr val="lt1"/>
                          </a:solidFill>
                        </a:rPr>
                        <a:t>Iowa</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Impressions</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50144</a:t>
                      </a:r>
                      <a:endParaRPr sz="800"/>
                    </a:p>
                  </a:txBody>
                  <a:tcPr marT="91425" marB="91425" marR="91425" marL="91425" anchor="ctr"/>
                </a:tc>
                <a:tc>
                  <a:txBody>
                    <a:bodyPr/>
                    <a:lstStyle/>
                    <a:p>
                      <a:pPr indent="0" lvl="0" marL="0" rtl="0" algn="ctr">
                        <a:spcBef>
                          <a:spcPts val="0"/>
                        </a:spcBef>
                        <a:spcAft>
                          <a:spcPts val="0"/>
                        </a:spcAft>
                        <a:buNone/>
                      </a:pPr>
                      <a:r>
                        <a:rPr lang="en" sz="800"/>
                        <a:t>Leon</a:t>
                      </a:r>
                      <a:endParaRPr sz="800"/>
                    </a:p>
                  </a:txBody>
                  <a:tcPr marT="91425" marB="91425" marR="91425" marL="91425" anchor="ctr"/>
                </a:tc>
                <a:tc>
                  <a:txBody>
                    <a:bodyPr/>
                    <a:lstStyle/>
                    <a:p>
                      <a:pPr indent="0" lvl="0" marL="0" rtl="0" algn="ctr">
                        <a:spcBef>
                          <a:spcPts val="0"/>
                        </a:spcBef>
                        <a:spcAft>
                          <a:spcPts val="0"/>
                        </a:spcAft>
                        <a:buNone/>
                      </a:pPr>
                      <a:r>
                        <a:rPr lang="en" sz="800"/>
                        <a:t>36</a:t>
                      </a:r>
                      <a:endParaRPr sz="800"/>
                    </a:p>
                  </a:txBody>
                  <a:tcPr marT="91425" marB="91425" marR="91425" marL="91425" anchor="ctr"/>
                </a:tc>
                <a:tc>
                  <a:txBody>
                    <a:bodyPr/>
                    <a:lstStyle/>
                    <a:p>
                      <a:pPr indent="0" lvl="0" marL="0" rtl="0" algn="ctr">
                        <a:spcBef>
                          <a:spcPts val="0"/>
                        </a:spcBef>
                        <a:spcAft>
                          <a:spcPts val="0"/>
                        </a:spcAft>
                        <a:buNone/>
                      </a:pPr>
                      <a:r>
                        <a:rPr lang="en" sz="800"/>
                        <a:t>1,837 </a:t>
                      </a:r>
                      <a:endParaRPr sz="800"/>
                    </a:p>
                  </a:txBody>
                  <a:tcPr marT="91425" marB="91425" marR="91425" marL="91425" anchor="ctr"/>
                </a:tc>
              </a:tr>
              <a:tr h="361600">
                <a:tc>
                  <a:txBody>
                    <a:bodyPr/>
                    <a:lstStyle/>
                    <a:p>
                      <a:pPr indent="0" lvl="0" marL="0" rtl="0" algn="ctr">
                        <a:spcBef>
                          <a:spcPts val="0"/>
                        </a:spcBef>
                        <a:spcAft>
                          <a:spcPts val="0"/>
                        </a:spcAft>
                        <a:buNone/>
                      </a:pPr>
                      <a:r>
                        <a:rPr lang="en" sz="800"/>
                        <a:t>50140</a:t>
                      </a:r>
                      <a:endParaRPr sz="800"/>
                    </a:p>
                  </a:txBody>
                  <a:tcPr marT="91425" marB="91425" marR="91425" marL="91425" anchor="ctr"/>
                </a:tc>
                <a:tc>
                  <a:txBody>
                    <a:bodyPr/>
                    <a:lstStyle/>
                    <a:p>
                      <a:pPr indent="0" lvl="0" marL="0" rtl="0" algn="ctr">
                        <a:spcBef>
                          <a:spcPts val="0"/>
                        </a:spcBef>
                        <a:spcAft>
                          <a:spcPts val="0"/>
                        </a:spcAft>
                        <a:buNone/>
                      </a:pPr>
                      <a:r>
                        <a:rPr lang="en" sz="800"/>
                        <a:t>Lamoni</a:t>
                      </a:r>
                      <a:endParaRPr sz="800"/>
                    </a:p>
                  </a:txBody>
                  <a:tcPr marT="91425" marB="91425" marR="91425" marL="91425" anchor="ctr"/>
                </a:tc>
                <a:tc>
                  <a:txBody>
                    <a:bodyPr/>
                    <a:lstStyle/>
                    <a:p>
                      <a:pPr indent="0" lvl="0" marL="0" rtl="0" algn="ctr">
                        <a:spcBef>
                          <a:spcPts val="0"/>
                        </a:spcBef>
                        <a:spcAft>
                          <a:spcPts val="0"/>
                        </a:spcAft>
                        <a:buNone/>
                      </a:pPr>
                      <a:r>
                        <a:rPr lang="en" sz="800"/>
                        <a:t>28</a:t>
                      </a:r>
                      <a:endParaRPr sz="800"/>
                    </a:p>
                  </a:txBody>
                  <a:tcPr marT="91425" marB="91425" marR="91425" marL="91425" anchor="ctr"/>
                </a:tc>
                <a:tc>
                  <a:txBody>
                    <a:bodyPr/>
                    <a:lstStyle/>
                    <a:p>
                      <a:pPr indent="0" lvl="0" marL="0" rtl="0" algn="ctr">
                        <a:spcBef>
                          <a:spcPts val="0"/>
                        </a:spcBef>
                        <a:spcAft>
                          <a:spcPts val="0"/>
                        </a:spcAft>
                        <a:buNone/>
                      </a:pPr>
                      <a:r>
                        <a:rPr lang="en" sz="800"/>
                        <a:t>1,445 </a:t>
                      </a:r>
                      <a:endParaRPr sz="800"/>
                    </a:p>
                  </a:txBody>
                  <a:tcPr marT="91425" marB="91425" marR="91425" marL="91425" anchor="ctr"/>
                </a:tc>
              </a:tr>
              <a:tr h="361600">
                <a:tc>
                  <a:txBody>
                    <a:bodyPr/>
                    <a:lstStyle/>
                    <a:p>
                      <a:pPr indent="0" lvl="0" marL="0" rtl="0" algn="ctr">
                        <a:spcBef>
                          <a:spcPts val="0"/>
                        </a:spcBef>
                        <a:spcAft>
                          <a:spcPts val="0"/>
                        </a:spcAft>
                        <a:buNone/>
                      </a:pPr>
                      <a:r>
                        <a:rPr lang="en" sz="800"/>
                        <a:t>50065</a:t>
                      </a:r>
                      <a:endParaRPr sz="800"/>
                    </a:p>
                  </a:txBody>
                  <a:tcPr marT="91425" marB="91425" marR="91425" marL="91425" anchor="ctr"/>
                </a:tc>
                <a:tc>
                  <a:txBody>
                    <a:bodyPr/>
                    <a:lstStyle/>
                    <a:p>
                      <a:pPr indent="0" lvl="0" marL="0" rtl="0" algn="ctr">
                        <a:spcBef>
                          <a:spcPts val="0"/>
                        </a:spcBef>
                        <a:spcAft>
                          <a:spcPts val="0"/>
                        </a:spcAft>
                        <a:buNone/>
                      </a:pPr>
                      <a:r>
                        <a:rPr lang="en" sz="800"/>
                        <a:t>Mount Ayr</a:t>
                      </a:r>
                      <a:endParaRPr sz="800"/>
                    </a:p>
                  </a:txBody>
                  <a:tcPr marT="91425" marB="91425" marR="91425" marL="91425" anchor="ctr"/>
                </a:tc>
                <a:tc>
                  <a:txBody>
                    <a:bodyPr/>
                    <a:lstStyle/>
                    <a:p>
                      <a:pPr indent="0" lvl="0" marL="0" rtl="0" algn="ctr">
                        <a:spcBef>
                          <a:spcPts val="0"/>
                        </a:spcBef>
                        <a:spcAft>
                          <a:spcPts val="0"/>
                        </a:spcAft>
                        <a:buNone/>
                      </a:pPr>
                      <a:r>
                        <a:rPr lang="en" sz="800"/>
                        <a:t>2</a:t>
                      </a:r>
                      <a:endParaRPr sz="800"/>
                    </a:p>
                  </a:txBody>
                  <a:tcPr marT="91425" marB="91425" marR="91425" marL="91425" anchor="ctr"/>
                </a:tc>
                <a:tc>
                  <a:txBody>
                    <a:bodyPr/>
                    <a:lstStyle/>
                    <a:p>
                      <a:pPr indent="0" lvl="0" marL="0" rtl="0" algn="ctr">
                        <a:spcBef>
                          <a:spcPts val="0"/>
                        </a:spcBef>
                        <a:spcAft>
                          <a:spcPts val="0"/>
                        </a:spcAft>
                        <a:buNone/>
                      </a:pPr>
                      <a:r>
                        <a:rPr lang="en" sz="800"/>
                        <a:t>105</a:t>
                      </a:r>
                      <a:endParaRPr sz="800"/>
                    </a:p>
                  </a:txBody>
                  <a:tcPr marT="91425" marB="91425" marR="91425" marL="91425" anchor="ctr"/>
                </a:tc>
              </a:tr>
            </a:tbl>
          </a:graphicData>
        </a:graphic>
      </p:graphicFrame>
      <p:graphicFrame>
        <p:nvGraphicFramePr>
          <p:cNvPr id="523" name="Google Shape;523;p84"/>
          <p:cNvGraphicFramePr/>
          <p:nvPr/>
        </p:nvGraphicFramePr>
        <p:xfrm>
          <a:off x="6140500" y="2571751"/>
          <a:ext cx="3000000" cy="3000000"/>
        </p:xfrm>
        <a:graphic>
          <a:graphicData uri="http://schemas.openxmlformats.org/drawingml/2006/table">
            <a:tbl>
              <a:tblPr>
                <a:noFill/>
                <a:tableStyleId>{12582AF7-009F-48A2-9A44-981834622FC7}</a:tableStyleId>
              </a:tblPr>
              <a:tblGrid>
                <a:gridCol w="512125"/>
                <a:gridCol w="918725"/>
                <a:gridCol w="649725"/>
                <a:gridCol w="791400"/>
              </a:tblGrid>
              <a:tr h="361600">
                <a:tc gridSpan="4">
                  <a:txBody>
                    <a:bodyPr/>
                    <a:lstStyle/>
                    <a:p>
                      <a:pPr indent="0" lvl="0" marL="0" rtl="0" algn="ctr">
                        <a:spcBef>
                          <a:spcPts val="0"/>
                        </a:spcBef>
                        <a:spcAft>
                          <a:spcPts val="0"/>
                        </a:spcAft>
                        <a:buNone/>
                      </a:pPr>
                      <a:r>
                        <a:rPr b="1" lang="en">
                          <a:solidFill>
                            <a:schemeClr val="lt1"/>
                          </a:solidFill>
                        </a:rPr>
                        <a:t>Illinois</a:t>
                      </a:r>
                      <a:endParaRPr b="1">
                        <a:solidFill>
                          <a:schemeClr val="lt1"/>
                        </a:solidFill>
                      </a:endParaRPr>
                    </a:p>
                  </a:txBody>
                  <a:tcPr marT="91425" marB="91425" marR="91425" marL="91425" anchor="ctr">
                    <a:solidFill>
                      <a:srgbClr val="1A2B4B"/>
                    </a:solidFill>
                  </a:tcPr>
                </a:tc>
                <a:tc hMerge="1">
                  <a:txBody>
                    <a:bodyPr/>
                    <a:p/>
                  </a:txBody>
                </a:tc>
                <a:tc hMerge="1">
                  <a:txBody>
                    <a:bodyPr/>
                    <a:p/>
                  </a:txBody>
                </a:tc>
                <a:tc hMerge="1">
                  <a:txBody>
                    <a:bodyPr/>
                    <a:p/>
                  </a:txBody>
                </a:tc>
              </a:tr>
              <a:tr h="361600">
                <a:tc>
                  <a:txBody>
                    <a:bodyPr/>
                    <a:lstStyle/>
                    <a:p>
                      <a:pPr indent="0" lvl="0" marL="0" rtl="0" algn="ctr">
                        <a:spcBef>
                          <a:spcPts val="0"/>
                        </a:spcBef>
                        <a:spcAft>
                          <a:spcPts val="0"/>
                        </a:spcAft>
                        <a:buNone/>
                      </a:pPr>
                      <a:r>
                        <a:rPr b="1" lang="en" sz="800"/>
                        <a:t>Area Code</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solidFill>
                            <a:schemeClr val="dk1"/>
                          </a:solidFill>
                        </a:rPr>
                        <a:t>City</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Web Sessions</a:t>
                      </a:r>
                      <a:endParaRPr b="1" sz="800"/>
                    </a:p>
                  </a:txBody>
                  <a:tcPr marT="91425" marB="91425" marR="91425" marL="91425" anchor="ctr">
                    <a:solidFill>
                      <a:srgbClr val="D9E1F2"/>
                    </a:solidFill>
                  </a:tcPr>
                </a:tc>
                <a:tc>
                  <a:txBody>
                    <a:bodyPr/>
                    <a:lstStyle/>
                    <a:p>
                      <a:pPr indent="0" lvl="0" marL="0" rtl="0" algn="ctr">
                        <a:spcBef>
                          <a:spcPts val="0"/>
                        </a:spcBef>
                        <a:spcAft>
                          <a:spcPts val="0"/>
                        </a:spcAft>
                        <a:buNone/>
                      </a:pPr>
                      <a:r>
                        <a:rPr b="1" lang="en" sz="800"/>
                        <a:t>Impression</a:t>
                      </a:r>
                      <a:endParaRPr b="1" sz="800"/>
                    </a:p>
                  </a:txBody>
                  <a:tcPr marT="91425" marB="91425" marR="91425" marL="91425" anchor="ctr">
                    <a:solidFill>
                      <a:srgbClr val="D9E1F2"/>
                    </a:solidFill>
                  </a:tcPr>
                </a:tc>
              </a:tr>
              <a:tr h="361600">
                <a:tc>
                  <a:txBody>
                    <a:bodyPr/>
                    <a:lstStyle/>
                    <a:p>
                      <a:pPr indent="0" lvl="0" marL="0" rtl="0" algn="ctr">
                        <a:spcBef>
                          <a:spcPts val="0"/>
                        </a:spcBef>
                        <a:spcAft>
                          <a:spcPts val="0"/>
                        </a:spcAft>
                        <a:buNone/>
                      </a:pPr>
                      <a:r>
                        <a:rPr lang="en" sz="800"/>
                        <a:t>62864</a:t>
                      </a:r>
                      <a:endParaRPr sz="800"/>
                    </a:p>
                  </a:txBody>
                  <a:tcPr marT="91425" marB="91425" marR="91425" marL="91425" anchor="ctr"/>
                </a:tc>
                <a:tc>
                  <a:txBody>
                    <a:bodyPr/>
                    <a:lstStyle/>
                    <a:p>
                      <a:pPr indent="0" lvl="0" marL="0" rtl="0" algn="ctr">
                        <a:spcBef>
                          <a:spcPts val="0"/>
                        </a:spcBef>
                        <a:spcAft>
                          <a:spcPts val="0"/>
                        </a:spcAft>
                        <a:buNone/>
                      </a:pPr>
                      <a:r>
                        <a:rPr lang="en" sz="800"/>
                        <a:t>Mount Vernon</a:t>
                      </a:r>
                      <a:endParaRPr sz="800"/>
                    </a:p>
                  </a:txBody>
                  <a:tcPr marT="91425" marB="91425" marR="91425" marL="91425" anchor="ctr"/>
                </a:tc>
                <a:tc>
                  <a:txBody>
                    <a:bodyPr/>
                    <a:lstStyle/>
                    <a:p>
                      <a:pPr indent="0" lvl="0" marL="0" rtl="0" algn="ctr">
                        <a:spcBef>
                          <a:spcPts val="0"/>
                        </a:spcBef>
                        <a:spcAft>
                          <a:spcPts val="0"/>
                        </a:spcAft>
                        <a:buNone/>
                      </a:pPr>
                      <a:r>
                        <a:rPr lang="en" sz="800"/>
                        <a:t>79</a:t>
                      </a:r>
                      <a:endParaRPr sz="800"/>
                    </a:p>
                  </a:txBody>
                  <a:tcPr marT="91425" marB="91425" marR="91425" marL="91425" anchor="ctr"/>
                </a:tc>
                <a:tc>
                  <a:txBody>
                    <a:bodyPr/>
                    <a:lstStyle/>
                    <a:p>
                      <a:pPr indent="0" lvl="0" marL="0" rtl="0" algn="ctr">
                        <a:spcBef>
                          <a:spcPts val="0"/>
                        </a:spcBef>
                        <a:spcAft>
                          <a:spcPts val="0"/>
                        </a:spcAft>
                        <a:buNone/>
                      </a:pPr>
                      <a:r>
                        <a:rPr lang="en" sz="800"/>
                        <a:t>3,878</a:t>
                      </a:r>
                      <a:endParaRPr sz="800"/>
                    </a:p>
                  </a:txBody>
                  <a:tcPr marT="91425" marB="91425" marR="91425" marL="91425" anchor="ctr"/>
                </a:tc>
              </a:tr>
              <a:tr h="361600">
                <a:tc>
                  <a:txBody>
                    <a:bodyPr/>
                    <a:lstStyle/>
                    <a:p>
                      <a:pPr indent="0" lvl="0" marL="0" rtl="0" algn="ctr">
                        <a:spcBef>
                          <a:spcPts val="0"/>
                        </a:spcBef>
                        <a:spcAft>
                          <a:spcPts val="0"/>
                        </a:spcAft>
                        <a:buNone/>
                      </a:pPr>
                      <a:r>
                        <a:rPr lang="en" sz="800"/>
                        <a:t>62812</a:t>
                      </a:r>
                      <a:endParaRPr sz="800"/>
                    </a:p>
                  </a:txBody>
                  <a:tcPr marT="91425" marB="91425" marR="91425" marL="91425" anchor="ctr"/>
                </a:tc>
                <a:tc>
                  <a:txBody>
                    <a:bodyPr/>
                    <a:lstStyle/>
                    <a:p>
                      <a:pPr indent="0" lvl="0" marL="0" rtl="0" algn="ctr">
                        <a:spcBef>
                          <a:spcPts val="0"/>
                        </a:spcBef>
                        <a:spcAft>
                          <a:spcPts val="0"/>
                        </a:spcAft>
                        <a:buNone/>
                      </a:pPr>
                      <a:r>
                        <a:rPr lang="en" sz="800"/>
                        <a:t>Benton</a:t>
                      </a:r>
                      <a:endParaRPr sz="800"/>
                    </a:p>
                  </a:txBody>
                  <a:tcPr marT="91425" marB="91425" marR="91425" marL="91425" anchor="ctr"/>
                </a:tc>
                <a:tc>
                  <a:txBody>
                    <a:bodyPr/>
                    <a:lstStyle/>
                    <a:p>
                      <a:pPr indent="0" lvl="0" marL="0" rtl="0" algn="ctr">
                        <a:spcBef>
                          <a:spcPts val="0"/>
                        </a:spcBef>
                        <a:spcAft>
                          <a:spcPts val="0"/>
                        </a:spcAft>
                        <a:buNone/>
                      </a:pPr>
                      <a:r>
                        <a:rPr lang="en" sz="800"/>
                        <a:t>58</a:t>
                      </a:r>
                      <a:endParaRPr sz="800"/>
                    </a:p>
                  </a:txBody>
                  <a:tcPr marT="91425" marB="91425" marR="91425" marL="91425" anchor="ctr"/>
                </a:tc>
                <a:tc>
                  <a:txBody>
                    <a:bodyPr/>
                    <a:lstStyle/>
                    <a:p>
                      <a:pPr indent="0" lvl="0" marL="0" rtl="0" algn="ctr">
                        <a:spcBef>
                          <a:spcPts val="0"/>
                        </a:spcBef>
                        <a:spcAft>
                          <a:spcPts val="0"/>
                        </a:spcAft>
                        <a:buNone/>
                      </a:pPr>
                      <a:r>
                        <a:rPr lang="en" sz="800"/>
                        <a:t>2,928</a:t>
                      </a:r>
                      <a:endParaRPr sz="800"/>
                    </a:p>
                  </a:txBody>
                  <a:tcPr marT="91425" marB="91425" marR="91425" marL="91425" anchor="ctr"/>
                </a:tc>
              </a:tr>
              <a:tr h="361600">
                <a:tc>
                  <a:txBody>
                    <a:bodyPr/>
                    <a:lstStyle/>
                    <a:p>
                      <a:pPr indent="0" lvl="0" marL="0" rtl="0" algn="ctr">
                        <a:spcBef>
                          <a:spcPts val="0"/>
                        </a:spcBef>
                        <a:spcAft>
                          <a:spcPts val="0"/>
                        </a:spcAft>
                        <a:buNone/>
                      </a:pPr>
                      <a:r>
                        <a:rPr lang="en" sz="800"/>
                        <a:t>62896</a:t>
                      </a:r>
                      <a:endParaRPr sz="800"/>
                    </a:p>
                  </a:txBody>
                  <a:tcPr marT="91425" marB="91425" marR="91425" marL="91425" anchor="ctr"/>
                </a:tc>
                <a:tc>
                  <a:txBody>
                    <a:bodyPr/>
                    <a:lstStyle/>
                    <a:p>
                      <a:pPr indent="0" lvl="0" marL="0" rtl="0" algn="ctr">
                        <a:spcBef>
                          <a:spcPts val="0"/>
                        </a:spcBef>
                        <a:spcAft>
                          <a:spcPts val="0"/>
                        </a:spcAft>
                        <a:buNone/>
                      </a:pPr>
                      <a:r>
                        <a:rPr lang="en" sz="800"/>
                        <a:t>West Frankfort</a:t>
                      </a:r>
                      <a:endParaRPr sz="800"/>
                    </a:p>
                  </a:txBody>
                  <a:tcPr marT="91425" marB="91425" marR="91425" marL="91425" anchor="ctr"/>
                </a:tc>
                <a:tc>
                  <a:txBody>
                    <a:bodyPr/>
                    <a:lstStyle/>
                    <a:p>
                      <a:pPr indent="0" lvl="0" marL="0" rtl="0" algn="ctr">
                        <a:spcBef>
                          <a:spcPts val="0"/>
                        </a:spcBef>
                        <a:spcAft>
                          <a:spcPts val="0"/>
                        </a:spcAft>
                        <a:buNone/>
                      </a:pPr>
                      <a:r>
                        <a:rPr lang="en" sz="800"/>
                        <a:t>41</a:t>
                      </a:r>
                      <a:endParaRPr sz="800"/>
                    </a:p>
                  </a:txBody>
                  <a:tcPr marT="91425" marB="91425" marR="91425" marL="91425" anchor="ctr"/>
                </a:tc>
                <a:tc>
                  <a:txBody>
                    <a:bodyPr/>
                    <a:lstStyle/>
                    <a:p>
                      <a:pPr indent="0" lvl="0" marL="0" rtl="0" algn="ctr">
                        <a:spcBef>
                          <a:spcPts val="0"/>
                        </a:spcBef>
                        <a:spcAft>
                          <a:spcPts val="0"/>
                        </a:spcAft>
                        <a:buNone/>
                      </a:pPr>
                      <a:r>
                        <a:rPr lang="en" sz="800"/>
                        <a:t>2,032</a:t>
                      </a:r>
                      <a:endParaRPr sz="800"/>
                    </a:p>
                  </a:txBody>
                  <a:tcPr marT="91425" marB="91425" marR="91425" marL="91425" anchor="ctr"/>
                </a:tc>
              </a:tr>
            </a:tbl>
          </a:graphicData>
        </a:graphic>
      </p:graphicFrame>
      <p:sp>
        <p:nvSpPr>
          <p:cNvPr id="524" name="Google Shape;524;p84"/>
          <p:cNvSpPr/>
          <p:nvPr/>
        </p:nvSpPr>
        <p:spPr>
          <a:xfrm>
            <a:off x="34282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4"/>
          <p:cNvSpPr/>
          <p:nvPr/>
        </p:nvSpPr>
        <p:spPr>
          <a:xfrm>
            <a:off x="34283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84"/>
          <p:cNvSpPr/>
          <p:nvPr/>
        </p:nvSpPr>
        <p:spPr>
          <a:xfrm>
            <a:off x="34282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874</a:t>
            </a:r>
            <a:endParaRPr b="1" sz="3200">
              <a:solidFill>
                <a:srgbClr val="0A1628"/>
              </a:solidFill>
              <a:latin typeface="Arial Black"/>
              <a:ea typeface="Arial Black"/>
              <a:cs typeface="Arial Black"/>
              <a:sym typeface="Arial Black"/>
            </a:endParaRPr>
          </a:p>
        </p:txBody>
      </p:sp>
      <p:sp>
        <p:nvSpPr>
          <p:cNvPr id="527" name="Google Shape;527;p84"/>
          <p:cNvSpPr/>
          <p:nvPr/>
        </p:nvSpPr>
        <p:spPr>
          <a:xfrm>
            <a:off x="34282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SESSIONS</a:t>
            </a:r>
            <a:endParaRPr b="0" i="0" sz="1000" u="none" cap="none" strike="noStrike">
              <a:solidFill>
                <a:srgbClr val="000000"/>
              </a:solidFill>
              <a:latin typeface="Calibri"/>
              <a:ea typeface="Calibri"/>
              <a:cs typeface="Calibri"/>
              <a:sym typeface="Calibri"/>
            </a:endParaRPr>
          </a:p>
        </p:txBody>
      </p:sp>
      <p:sp>
        <p:nvSpPr>
          <p:cNvPr id="528" name="Google Shape;528;p84"/>
          <p:cNvSpPr/>
          <p:nvPr/>
        </p:nvSpPr>
        <p:spPr>
          <a:xfrm>
            <a:off x="322318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84"/>
          <p:cNvSpPr/>
          <p:nvPr/>
        </p:nvSpPr>
        <p:spPr>
          <a:xfrm>
            <a:off x="322319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84"/>
          <p:cNvSpPr/>
          <p:nvPr/>
        </p:nvSpPr>
        <p:spPr>
          <a:xfrm>
            <a:off x="322318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1,745</a:t>
            </a:r>
            <a:endParaRPr b="1" sz="3200">
              <a:solidFill>
                <a:srgbClr val="0A1628"/>
              </a:solidFill>
              <a:latin typeface="Arial Black"/>
              <a:ea typeface="Arial Black"/>
              <a:cs typeface="Arial Black"/>
              <a:sym typeface="Arial Black"/>
            </a:endParaRPr>
          </a:p>
        </p:txBody>
      </p:sp>
      <p:sp>
        <p:nvSpPr>
          <p:cNvPr id="531" name="Google Shape;531;p84"/>
          <p:cNvSpPr/>
          <p:nvPr/>
        </p:nvSpPr>
        <p:spPr>
          <a:xfrm>
            <a:off x="322318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TOTAL PAGE VIEWS</a:t>
            </a:r>
            <a:endParaRPr b="0" i="0" sz="1000" u="none" cap="none" strike="noStrike">
              <a:solidFill>
                <a:srgbClr val="000000"/>
              </a:solidFill>
              <a:latin typeface="Calibri"/>
              <a:ea typeface="Calibri"/>
              <a:cs typeface="Calibri"/>
              <a:sym typeface="Calibri"/>
            </a:endParaRPr>
          </a:p>
        </p:txBody>
      </p:sp>
      <p:sp>
        <p:nvSpPr>
          <p:cNvPr id="532" name="Google Shape;532;p84"/>
          <p:cNvSpPr/>
          <p:nvPr/>
        </p:nvSpPr>
        <p:spPr>
          <a:xfrm>
            <a:off x="6103545" y="676235"/>
            <a:ext cx="2697600" cy="1188600"/>
          </a:xfrm>
          <a:prstGeom prst="rect">
            <a:avLst/>
          </a:prstGeom>
          <a:solidFill>
            <a:srgbClr val="FFFFFF"/>
          </a:solidFill>
          <a:ln>
            <a:noFill/>
          </a:ln>
          <a:effectLst>
            <a:outerShdw blurRad="101600" rotWithShape="0" algn="bl" dir="8100000" dist="38100">
              <a:srgbClr val="000000">
                <a:alpha val="250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84"/>
          <p:cNvSpPr/>
          <p:nvPr/>
        </p:nvSpPr>
        <p:spPr>
          <a:xfrm>
            <a:off x="6103558" y="1588770"/>
            <a:ext cx="2697600" cy="73200"/>
          </a:xfrm>
          <a:prstGeom prst="rect">
            <a:avLst/>
          </a:prstGeom>
          <a:solidFill>
            <a:srgbClr val="5481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4"/>
          <p:cNvSpPr/>
          <p:nvPr/>
        </p:nvSpPr>
        <p:spPr>
          <a:xfrm>
            <a:off x="6103545" y="721955"/>
            <a:ext cx="2697600" cy="73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 sz="3200">
                <a:solidFill>
                  <a:srgbClr val="0A1628"/>
                </a:solidFill>
                <a:latin typeface="Arial Black"/>
                <a:ea typeface="Arial Black"/>
                <a:cs typeface="Arial Black"/>
                <a:sym typeface="Arial Black"/>
              </a:rPr>
              <a:t>$2.43</a:t>
            </a:r>
            <a:endParaRPr b="1" sz="3200">
              <a:solidFill>
                <a:srgbClr val="0A1628"/>
              </a:solidFill>
              <a:latin typeface="Arial Black"/>
              <a:ea typeface="Arial Black"/>
              <a:cs typeface="Arial Black"/>
              <a:sym typeface="Arial Black"/>
            </a:endParaRPr>
          </a:p>
        </p:txBody>
      </p:sp>
      <p:sp>
        <p:nvSpPr>
          <p:cNvPr id="535" name="Google Shape;535;p84"/>
          <p:cNvSpPr/>
          <p:nvPr/>
        </p:nvSpPr>
        <p:spPr>
          <a:xfrm>
            <a:off x="6103545" y="1362035"/>
            <a:ext cx="2697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AVG COST PER SESSION</a:t>
            </a:r>
            <a:endParaRPr b="0" i="0" sz="1000" u="none" cap="none" strike="noStrike">
              <a:solidFill>
                <a:srgbClr val="000000"/>
              </a:solidFill>
              <a:latin typeface="Calibri"/>
              <a:ea typeface="Calibri"/>
              <a:cs typeface="Calibri"/>
              <a:sym typeface="Calibri"/>
            </a:endParaRPr>
          </a:p>
        </p:txBody>
      </p:sp>
      <p:sp>
        <p:nvSpPr>
          <p:cNvPr id="536" name="Google Shape;536;p84"/>
          <p:cNvSpPr txBox="1"/>
          <p:nvPr/>
        </p:nvSpPr>
        <p:spPr>
          <a:xfrm>
            <a:off x="2273875" y="2085200"/>
            <a:ext cx="437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TOP ZIP CODES</a:t>
            </a:r>
            <a:endParaRPr b="1" sz="18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5"/>
          <p:cNvSpPr txBox="1"/>
          <p:nvPr>
            <p:ph type="title"/>
          </p:nvPr>
        </p:nvSpPr>
        <p:spPr>
          <a:xfrm>
            <a:off x="24450" y="0"/>
            <a:ext cx="66282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Geofence Results - March 2026</a:t>
            </a:r>
            <a:endParaRPr/>
          </a:p>
        </p:txBody>
      </p:sp>
      <p:graphicFrame>
        <p:nvGraphicFramePr>
          <p:cNvPr id="542" name="Google Shape;542;p85"/>
          <p:cNvGraphicFramePr/>
          <p:nvPr/>
        </p:nvGraphicFramePr>
        <p:xfrm>
          <a:off x="356013" y="1276350"/>
          <a:ext cx="3000000" cy="3000000"/>
        </p:xfrm>
        <a:graphic>
          <a:graphicData uri="http://schemas.openxmlformats.org/drawingml/2006/table">
            <a:tbl>
              <a:tblPr>
                <a:noFill/>
                <a:tableStyleId>{7E530ABA-82E6-40B3-9370-665EBA873D1E}</a:tableStyleId>
              </a:tblPr>
              <a:tblGrid>
                <a:gridCol w="1299600"/>
                <a:gridCol w="2779225"/>
                <a:gridCol w="1505400"/>
                <a:gridCol w="1103950"/>
                <a:gridCol w="815425"/>
              </a:tblGrid>
              <a:tr h="209550">
                <a:tc>
                  <a:txBody>
                    <a:bodyPr/>
                    <a:lstStyle/>
                    <a:p>
                      <a:pPr indent="0" lvl="0" marL="0" rtl="0" algn="l">
                        <a:lnSpc>
                          <a:spcPct val="115000"/>
                        </a:lnSpc>
                        <a:spcBef>
                          <a:spcPts val="0"/>
                        </a:spcBef>
                        <a:spcAft>
                          <a:spcPts val="0"/>
                        </a:spcAft>
                        <a:buNone/>
                      </a:pPr>
                      <a:r>
                        <a:rPr b="1" lang="en" sz="1200"/>
                        <a:t>Campaign Type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Geofence Locations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Creative</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Impressions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1200"/>
                        <a:t>Clicks</a:t>
                      </a:r>
                      <a:endParaRPr b="1" sz="12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00"/>
                    </a:solidFill>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200"/>
                        <a:t>Geofence</a:t>
                      </a:r>
                      <a:endParaRPr sz="1200"/>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46" name="Shape 546"/>
        <p:cNvGrpSpPr/>
        <p:nvPr/>
      </p:nvGrpSpPr>
      <p:grpSpPr>
        <a:xfrm>
          <a:off x="0" y="0"/>
          <a:ext cx="0" cy="0"/>
          <a:chOff x="0" y="0"/>
          <a:chExt cx="0" cy="0"/>
        </a:xfrm>
      </p:grpSpPr>
      <p:sp>
        <p:nvSpPr>
          <p:cNvPr id="547" name="Google Shape;547;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548" name="Google Shape;548;p86"/>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49" name="Google Shape;549;p86"/>
          <p:cNvSpPr txBox="1"/>
          <p:nvPr/>
        </p:nvSpPr>
        <p:spPr>
          <a:xfrm>
            <a:off x="1446900" y="1671850"/>
            <a:ext cx="6250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a:solidFill>
                  <a:schemeClr val="lt1"/>
                </a:solidFill>
                <a:latin typeface="Lato"/>
                <a:ea typeface="Lato"/>
                <a:cs typeface="Lato"/>
                <a:sym typeface="Lato"/>
              </a:rPr>
              <a:t>Facebook + Email Results</a:t>
            </a:r>
            <a:endParaRPr sz="3200">
              <a:solidFill>
                <a:schemeClr val="lt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graphicFrame>
        <p:nvGraphicFramePr>
          <p:cNvPr id="554" name="Google Shape;554;p87"/>
          <p:cNvGraphicFramePr/>
          <p:nvPr/>
        </p:nvGraphicFramePr>
        <p:xfrm>
          <a:off x="2323467" y="487350"/>
          <a:ext cx="3000000" cy="3000000"/>
        </p:xfrm>
        <a:graphic>
          <a:graphicData uri="http://schemas.openxmlformats.org/drawingml/2006/table">
            <a:tbl>
              <a:tblPr>
                <a:noFill/>
                <a:tableStyleId>{12582AF7-009F-48A2-9A44-981834622FC7}</a:tableStyleId>
              </a:tblPr>
              <a:tblGrid>
                <a:gridCol w="1478675"/>
                <a:gridCol w="855825"/>
                <a:gridCol w="1057825"/>
                <a:gridCol w="739500"/>
                <a:gridCol w="726275"/>
                <a:gridCol w="990625"/>
                <a:gridCol w="768675"/>
              </a:tblGrid>
              <a:tr h="284750">
                <a:tc>
                  <a:txBody>
                    <a:bodyPr/>
                    <a:lstStyle/>
                    <a:p>
                      <a:pPr indent="0" lvl="0" marL="0" rtl="0" algn="l">
                        <a:lnSpc>
                          <a:spcPct val="50000"/>
                        </a:lnSpc>
                        <a:spcBef>
                          <a:spcPts val="0"/>
                        </a:spcBef>
                        <a:spcAft>
                          <a:spcPts val="0"/>
                        </a:spcAft>
                        <a:buNone/>
                      </a:pPr>
                      <a:r>
                        <a:rPr lang="en" sz="1100"/>
                        <a:t> </a:t>
                      </a:r>
                      <a:endParaRPr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Reach</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Impressions</a:t>
                      </a:r>
                      <a:endParaRPr b="1" sz="11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1100"/>
                        <a:t>Clicks</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CPC</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Frequency</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1100"/>
                        <a:t>CTR</a:t>
                      </a:r>
                      <a:endParaRPr b="1" sz="11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84750">
                <a:tc>
                  <a:txBody>
                    <a:bodyPr/>
                    <a:lstStyle/>
                    <a:p>
                      <a:pPr indent="0" lvl="0" marL="0" rtl="0" algn="l">
                        <a:lnSpc>
                          <a:spcPct val="50000"/>
                        </a:lnSpc>
                        <a:spcBef>
                          <a:spcPts val="0"/>
                        </a:spcBef>
                        <a:spcAft>
                          <a:spcPts val="0"/>
                        </a:spcAft>
                        <a:buNone/>
                      </a:pPr>
                      <a:r>
                        <a:rPr lang="en" sz="900"/>
                        <a:t>Dynamic</a:t>
                      </a:r>
                      <a:endParaRPr sz="900"/>
                    </a:p>
                  </a:txBody>
                  <a:tcPr marT="91425" marB="91425" marR="91425" marL="91425" anchor="ctr">
                    <a:lnB cap="flat" cmpd="sng" w="19050">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Indiana</a:t>
                      </a:r>
                      <a:endParaRPr sz="900"/>
                    </a:p>
                  </a:txBody>
                  <a:tcPr marT="91425" marB="91425" marR="91425" marL="91425" anchor="ctr">
                    <a:lnR cap="flat" cmpd="sng" w="9525">
                      <a:solidFill>
                        <a:srgbClr val="9E9E9E"/>
                      </a:solidFill>
                      <a:prstDash val="solid"/>
                      <a:round/>
                      <a:headEnd len="sm" w="sm" type="none"/>
                      <a:tailEnd len="sm" w="sm" type="none"/>
                    </a:lnR>
                    <a:lnT cap="flat" cmpd="sng" w="19050">
                      <a:solidFill>
                        <a:schemeClr val="dk1"/>
                      </a:solidFill>
                      <a:prstDash val="solid"/>
                      <a:round/>
                      <a:headEnd len="sm" w="sm" type="none"/>
                      <a:tailEnd len="sm" w="sm" type="none"/>
                    </a:lnT>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Illinois</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Iowa</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Motorhome Hashed</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Aged Inventory (All)</a:t>
                      </a:r>
                      <a:endParaRPr sz="900"/>
                    </a:p>
                  </a:txBody>
                  <a:tcPr marT="91425" marB="91425" marR="91425" marL="91425" anchor="ctr">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84750">
                <a:tc>
                  <a:txBody>
                    <a:bodyPr/>
                    <a:lstStyle/>
                    <a:p>
                      <a:pPr indent="0" lvl="0" marL="0" rtl="0" algn="l">
                        <a:lnSpc>
                          <a:spcPct val="50000"/>
                        </a:lnSpc>
                        <a:spcBef>
                          <a:spcPts val="0"/>
                        </a:spcBef>
                        <a:spcAft>
                          <a:spcPts val="0"/>
                        </a:spcAft>
                        <a:buNone/>
                      </a:pPr>
                      <a:r>
                        <a:rPr lang="en" sz="900"/>
                        <a:t>Belle Clair Show</a:t>
                      </a:r>
                      <a:endParaRPr sz="9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T cap="flat" cmpd="sng" w="9525">
                      <a:solidFill>
                        <a:srgbClr val="9E9E9E"/>
                      </a:solidFill>
                      <a:prstDash val="solid"/>
                      <a:round/>
                      <a:headEnd len="sm" w="sm" type="none"/>
                      <a:tailEnd len="sm" w="sm" type="none"/>
                    </a:lnT>
                    <a:solidFill>
                      <a:schemeClr val="lt1"/>
                    </a:solidFill>
                  </a:tcPr>
                </a:tc>
              </a:tr>
            </a:tbl>
          </a:graphicData>
        </a:graphic>
      </p:graphicFrame>
      <p:sp>
        <p:nvSpPr>
          <p:cNvPr id="555" name="Google Shape;555;p87"/>
          <p:cNvSpPr txBox="1"/>
          <p:nvPr>
            <p:ph type="title"/>
          </p:nvPr>
        </p:nvSpPr>
        <p:spPr>
          <a:xfrm>
            <a:off x="0" y="0"/>
            <a:ext cx="45720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Ads </a:t>
            </a:r>
            <a:endParaRPr/>
          </a:p>
        </p:txBody>
      </p:sp>
      <p:sp>
        <p:nvSpPr>
          <p:cNvPr id="556" name="Google Shape;556;p87"/>
          <p:cNvSpPr txBox="1"/>
          <p:nvPr/>
        </p:nvSpPr>
        <p:spPr>
          <a:xfrm>
            <a:off x="40800" y="625350"/>
            <a:ext cx="2282700" cy="194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Clicks: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CPC: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CTR: </a:t>
            </a:r>
            <a:endParaRPr b="1">
              <a:solidFill>
                <a:schemeClr val="dk2"/>
              </a:solidFill>
              <a:latin typeface="Roboto"/>
              <a:ea typeface="Roboto"/>
              <a:cs typeface="Roboto"/>
              <a:sym typeface="Roboto"/>
            </a:endParaRPr>
          </a:p>
        </p:txBody>
      </p:sp>
      <p:graphicFrame>
        <p:nvGraphicFramePr>
          <p:cNvPr id="557" name="Google Shape;557;p87"/>
          <p:cNvGraphicFramePr/>
          <p:nvPr/>
        </p:nvGraphicFramePr>
        <p:xfrm>
          <a:off x="2323454" y="3428738"/>
          <a:ext cx="3000000" cy="3000000"/>
        </p:xfrm>
        <a:graphic>
          <a:graphicData uri="http://schemas.openxmlformats.org/drawingml/2006/table">
            <a:tbl>
              <a:tblPr>
                <a:noFill/>
                <a:tableStyleId>{12582AF7-009F-48A2-9A44-981834622FC7}</a:tableStyleId>
              </a:tblPr>
              <a:tblGrid>
                <a:gridCol w="1778250"/>
                <a:gridCol w="1021275"/>
                <a:gridCol w="1234900"/>
                <a:gridCol w="866950"/>
                <a:gridCol w="773200"/>
                <a:gridCol w="942850"/>
              </a:tblGrid>
              <a:tr h="263675">
                <a:tc>
                  <a:txBody>
                    <a:bodyPr/>
                    <a:lstStyle/>
                    <a:p>
                      <a:pPr indent="0" lvl="0" marL="0" rtl="0" algn="l">
                        <a:lnSpc>
                          <a:spcPct val="50000"/>
                        </a:lnSpc>
                        <a:spcBef>
                          <a:spcPts val="0"/>
                        </a:spcBef>
                        <a:spcAft>
                          <a:spcPts val="0"/>
                        </a:spcAft>
                        <a:buNone/>
                      </a:pPr>
                      <a:r>
                        <a:rPr lang="en" sz="900"/>
                        <a:t> </a:t>
                      </a:r>
                      <a:endParaRPr sz="900"/>
                    </a:p>
                  </a:txBody>
                  <a:tcPr marT="91425" marB="91425" marR="91425" marL="91425" anchor="ctr">
                    <a:solidFill>
                      <a:srgbClr val="FFFF00"/>
                    </a:solidFill>
                  </a:tcPr>
                </a:tc>
                <a:tc>
                  <a:txBody>
                    <a:bodyPr/>
                    <a:lstStyle/>
                    <a:p>
                      <a:pPr indent="0" lvl="0" marL="0" rtl="0" algn="ctr">
                        <a:lnSpc>
                          <a:spcPct val="50000"/>
                        </a:lnSpc>
                        <a:spcBef>
                          <a:spcPts val="0"/>
                        </a:spcBef>
                        <a:spcAft>
                          <a:spcPts val="0"/>
                        </a:spcAft>
                        <a:buNone/>
                      </a:pPr>
                      <a:r>
                        <a:rPr b="1" lang="en" sz="900"/>
                        <a:t>Reach</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Impressions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ThruPlays</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CPTP</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c>
                  <a:txBody>
                    <a:bodyPr/>
                    <a:lstStyle/>
                    <a:p>
                      <a:pPr indent="0" lvl="0" marL="0" rtl="0" algn="ctr">
                        <a:lnSpc>
                          <a:spcPct val="50000"/>
                        </a:lnSpc>
                        <a:spcBef>
                          <a:spcPts val="0"/>
                        </a:spcBef>
                        <a:spcAft>
                          <a:spcPts val="0"/>
                        </a:spcAft>
                        <a:buNone/>
                      </a:pPr>
                      <a:r>
                        <a:rPr b="1" lang="en" sz="900"/>
                        <a:t>Frequency</a:t>
                      </a:r>
                      <a:endParaRPr b="1" sz="900"/>
                    </a:p>
                  </a:txBody>
                  <a:tcPr marT="91425" marB="91425" marR="91425" marL="91425" anchor="ctr">
                    <a:lnB cap="flat" cmpd="sng" w="9525">
                      <a:solidFill>
                        <a:srgbClr val="9E9E9E"/>
                      </a:solidFill>
                      <a:prstDash val="solid"/>
                      <a:round/>
                      <a:headEnd len="sm" w="sm" type="none"/>
                      <a:tailEnd len="sm" w="sm" type="none"/>
                    </a:lnB>
                    <a:solidFill>
                      <a:srgbClr val="FFFF00"/>
                    </a:solidFill>
                  </a:tcPr>
                </a:tc>
              </a:tr>
              <a:tr h="279625">
                <a:tc>
                  <a:txBody>
                    <a:bodyPr/>
                    <a:lstStyle/>
                    <a:p>
                      <a:pPr indent="0" lvl="0" marL="0" rtl="0" algn="l">
                        <a:lnSpc>
                          <a:spcPct val="50000"/>
                        </a:lnSpc>
                        <a:spcBef>
                          <a:spcPts val="0"/>
                        </a:spcBef>
                        <a:spcAft>
                          <a:spcPts val="0"/>
                        </a:spcAft>
                        <a:buNone/>
                      </a:pPr>
                      <a:r>
                        <a:rPr lang="en" sz="900"/>
                        <a:t>IN - 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IL - </a:t>
                      </a:r>
                      <a:r>
                        <a:rPr lang="en" sz="900">
                          <a:solidFill>
                            <a:schemeClr val="dk1"/>
                          </a:solidFill>
                        </a:rPr>
                        <a:t>Spring Adventure Vid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279625">
                <a:tc>
                  <a:txBody>
                    <a:bodyPr/>
                    <a:lstStyle/>
                    <a:p>
                      <a:pPr indent="0" lvl="0" marL="0" rtl="0" algn="l">
                        <a:lnSpc>
                          <a:spcPct val="50000"/>
                        </a:lnSpc>
                        <a:spcBef>
                          <a:spcPts val="0"/>
                        </a:spcBef>
                        <a:spcAft>
                          <a:spcPts val="0"/>
                        </a:spcAft>
                        <a:buNone/>
                      </a:pPr>
                      <a:r>
                        <a:rPr lang="en" sz="900"/>
                        <a:t>IA - </a:t>
                      </a:r>
                      <a:r>
                        <a:rPr lang="en" sz="900">
                          <a:solidFill>
                            <a:schemeClr val="dk1"/>
                          </a:solidFill>
                        </a:rPr>
                        <a:t>Spring Adventure Vid</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9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558" name="Google Shape;558;p87"/>
          <p:cNvSpPr txBox="1"/>
          <p:nvPr>
            <p:ph type="title"/>
          </p:nvPr>
        </p:nvSpPr>
        <p:spPr>
          <a:xfrm>
            <a:off x="0" y="2968925"/>
            <a:ext cx="2282700" cy="377100"/>
          </a:xfrm>
          <a:prstGeom prst="rect">
            <a:avLst/>
          </a:prstGeom>
          <a:solidFill>
            <a:srgbClr val="D5C1AD"/>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Video</a:t>
            </a:r>
            <a:endParaRPr/>
          </a:p>
        </p:txBody>
      </p:sp>
      <p:sp>
        <p:nvSpPr>
          <p:cNvPr id="559" name="Google Shape;559;p87"/>
          <p:cNvSpPr txBox="1"/>
          <p:nvPr/>
        </p:nvSpPr>
        <p:spPr>
          <a:xfrm>
            <a:off x="39750" y="3377525"/>
            <a:ext cx="2282700" cy="115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Thruplays: </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CTTP:</a:t>
            </a:r>
            <a:endParaRPr b="1">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2"/>
                </a:solidFill>
                <a:latin typeface="Roboto"/>
                <a:ea typeface="Roboto"/>
                <a:cs typeface="Roboto"/>
                <a:sym typeface="Roboto"/>
              </a:rPr>
              <a:t>Average Freq: </a:t>
            </a:r>
            <a:endParaRPr b="1">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March Email</a:t>
            </a:r>
            <a:endParaRPr/>
          </a:p>
        </p:txBody>
      </p:sp>
      <p:graphicFrame>
        <p:nvGraphicFramePr>
          <p:cNvPr id="565" name="Google Shape;565;p88"/>
          <p:cNvGraphicFramePr/>
          <p:nvPr/>
        </p:nvGraphicFramePr>
        <p:xfrm>
          <a:off x="165388" y="407199"/>
          <a:ext cx="3000000" cy="3000000"/>
        </p:xfrm>
        <a:graphic>
          <a:graphicData uri="http://schemas.openxmlformats.org/drawingml/2006/table">
            <a:tbl>
              <a:tblPr>
                <a:noFill/>
                <a:tableStyleId>{12582AF7-009F-48A2-9A44-981834622FC7}</a:tableStyleId>
              </a:tblPr>
              <a:tblGrid>
                <a:gridCol w="2545550"/>
                <a:gridCol w="900775"/>
                <a:gridCol w="1029775"/>
                <a:gridCol w="734025"/>
                <a:gridCol w="1231425"/>
              </a:tblGrid>
              <a:tr h="202450">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48050">
                <a:tc>
                  <a:txBody>
                    <a:bodyPr/>
                    <a:lstStyle/>
                    <a:p>
                      <a:pPr indent="0" lvl="0" marL="0" rtl="0" algn="l">
                        <a:lnSpc>
                          <a:spcPct val="45000"/>
                        </a:lnSpc>
                        <a:spcBef>
                          <a:spcPts val="0"/>
                        </a:spcBef>
                        <a:spcAft>
                          <a:spcPts val="0"/>
                        </a:spcAft>
                        <a:buNone/>
                      </a:pPr>
                      <a:r>
                        <a:rPr b="1" lang="en" sz="1200"/>
                        <a:t>Indiana Database 1</a:t>
                      </a:r>
                      <a:endParaRPr b="1" sz="1200"/>
                    </a:p>
                  </a:txBody>
                  <a:tcPr marT="91425" marB="91425" marR="91425" marL="91425" anchor="ctr">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solidFill>
                            <a:schemeClr val="dk1"/>
                          </a:solidFill>
                        </a:rPr>
                        <a:t>Indiana Database 2</a:t>
                      </a:r>
                      <a:endParaRPr b="1" sz="12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Intender</a:t>
                      </a:r>
                      <a:endParaRPr b="1" sz="1200">
                        <a:solidFill>
                          <a:schemeClr val="dk1"/>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Indiana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Iowa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1</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Database 2</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Illinois Super Specials Intender</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graphicFrame>
        <p:nvGraphicFramePr>
          <p:cNvPr id="566" name="Google Shape;566;p88"/>
          <p:cNvGraphicFramePr/>
          <p:nvPr/>
        </p:nvGraphicFramePr>
        <p:xfrm>
          <a:off x="165388" y="4014324"/>
          <a:ext cx="3000000" cy="3000000"/>
        </p:xfrm>
        <a:graphic>
          <a:graphicData uri="http://schemas.openxmlformats.org/drawingml/2006/table">
            <a:tbl>
              <a:tblPr>
                <a:noFill/>
                <a:tableStyleId>{12582AF7-009F-48A2-9A44-981834622FC7}</a:tableStyleId>
              </a:tblPr>
              <a:tblGrid>
                <a:gridCol w="2060450"/>
                <a:gridCol w="1068325"/>
                <a:gridCol w="1205450"/>
                <a:gridCol w="734025"/>
                <a:gridCol w="1231425"/>
              </a:tblGrid>
              <a:tr h="177075">
                <a:tc>
                  <a:txBody>
                    <a:bodyPr/>
                    <a:lstStyle/>
                    <a:p>
                      <a:pPr indent="0" lvl="0" marL="0" rtl="0" algn="l">
                        <a:lnSpc>
                          <a:spcPct val="45000"/>
                        </a:lnSpc>
                        <a:spcBef>
                          <a:spcPts val="0"/>
                        </a:spcBef>
                        <a:spcAft>
                          <a:spcPts val="0"/>
                        </a:spcAft>
                        <a:buNone/>
                      </a:pPr>
                      <a:r>
                        <a:t/>
                      </a:r>
                      <a:endParaRPr sz="1200"/>
                    </a:p>
                  </a:txBody>
                  <a:tcPr marT="91425" marB="91425" marR="91425" marL="91425" anchor="ctr">
                    <a:solidFill>
                      <a:srgbClr val="F1C232"/>
                    </a:solidFill>
                  </a:tcPr>
                </a:tc>
                <a:tc>
                  <a:txBody>
                    <a:bodyPr/>
                    <a:lstStyle/>
                    <a:p>
                      <a:pPr indent="0" lvl="0" marL="0" rtl="0" algn="ctr">
                        <a:lnSpc>
                          <a:spcPct val="45000"/>
                        </a:lnSpc>
                        <a:spcBef>
                          <a:spcPts val="0"/>
                        </a:spcBef>
                        <a:spcAft>
                          <a:spcPts val="0"/>
                        </a:spcAft>
                        <a:buNone/>
                      </a:pPr>
                      <a:r>
                        <a:rPr b="1" lang="en" sz="1200"/>
                        <a:t>Amount</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Open Rate</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Clicks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c>
                  <a:txBody>
                    <a:bodyPr/>
                    <a:lstStyle/>
                    <a:p>
                      <a:pPr indent="0" lvl="0" marL="0" rtl="0" algn="ctr">
                        <a:lnSpc>
                          <a:spcPct val="45000"/>
                        </a:lnSpc>
                        <a:spcBef>
                          <a:spcPts val="0"/>
                        </a:spcBef>
                        <a:spcAft>
                          <a:spcPts val="0"/>
                        </a:spcAft>
                        <a:buNone/>
                      </a:pPr>
                      <a:r>
                        <a:rPr b="1" lang="en" sz="1200"/>
                        <a:t>Unsubscribes</a:t>
                      </a:r>
                      <a:endParaRPr b="1" sz="1200"/>
                    </a:p>
                  </a:txBody>
                  <a:tcPr marT="91425" marB="91425" marR="91425" marL="91425" anchor="ctr">
                    <a:lnB cap="flat" cmpd="sng" w="9525">
                      <a:solidFill>
                        <a:srgbClr val="9E9E9E"/>
                      </a:solidFill>
                      <a:prstDash val="solid"/>
                      <a:round/>
                      <a:headEnd len="sm" w="sm" type="none"/>
                      <a:tailEnd len="sm" w="sm" type="none"/>
                    </a:lnB>
                    <a:solidFill>
                      <a:srgbClr val="F1C232"/>
                    </a:solidFill>
                  </a:tcPr>
                </a:tc>
              </a:tr>
              <a:tr h="100000">
                <a:tc>
                  <a:txBody>
                    <a:bodyPr/>
                    <a:lstStyle/>
                    <a:p>
                      <a:pPr indent="0" lvl="0" marL="0" rtl="0" algn="l">
                        <a:lnSpc>
                          <a:spcPct val="45000"/>
                        </a:lnSpc>
                        <a:spcBef>
                          <a:spcPts val="0"/>
                        </a:spcBef>
                        <a:spcAft>
                          <a:spcPts val="0"/>
                        </a:spcAft>
                        <a:buNone/>
                      </a:pPr>
                      <a:r>
                        <a:rPr b="1" lang="en" sz="1200"/>
                        <a:t>Motorhome Conquest (IN)</a:t>
                      </a:r>
                      <a:endParaRPr b="1" sz="1200">
                        <a:solidFill>
                          <a:srgbClr val="000000"/>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0000">
                <a:tc>
                  <a:txBody>
                    <a:bodyPr/>
                    <a:lstStyle/>
                    <a:p>
                      <a:pPr indent="0" lvl="0" marL="0" rtl="0" algn="l">
                        <a:lnSpc>
                          <a:spcPct val="45000"/>
                        </a:lnSpc>
                        <a:spcBef>
                          <a:spcPts val="0"/>
                        </a:spcBef>
                        <a:spcAft>
                          <a:spcPts val="0"/>
                        </a:spcAft>
                        <a:buNone/>
                      </a:pPr>
                      <a:r>
                        <a:rPr b="1" lang="en" sz="1200"/>
                        <a:t>Motorhome Intender </a:t>
                      </a:r>
                      <a:r>
                        <a:rPr b="1" lang="en" sz="1200">
                          <a:solidFill>
                            <a:schemeClr val="dk1"/>
                          </a:solidFill>
                        </a:rPr>
                        <a:t>(IN)</a:t>
                      </a:r>
                      <a:endParaRPr b="1" sz="12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t/>
                      </a:r>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570" name="Shape 570"/>
        <p:cNvGrpSpPr/>
        <p:nvPr/>
      </p:nvGrpSpPr>
      <p:grpSpPr>
        <a:xfrm>
          <a:off x="0" y="0"/>
          <a:ext cx="0" cy="0"/>
          <a:chOff x="0" y="0"/>
          <a:chExt cx="0" cy="0"/>
        </a:xfrm>
      </p:grpSpPr>
      <p:sp>
        <p:nvSpPr>
          <p:cNvPr id="571" name="Google Shape;571;p8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Engage</a:t>
            </a:r>
            <a:endParaRPr sz="4800">
              <a:solidFill>
                <a:schemeClr val="lt1"/>
              </a:solidFill>
            </a:endParaRPr>
          </a:p>
        </p:txBody>
      </p:sp>
      <p:sp>
        <p:nvSpPr>
          <p:cNvPr id="572" name="Google Shape;57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8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574" name="Google Shape;574;p8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grpSp>
        <p:nvGrpSpPr>
          <p:cNvPr id="579" name="Google Shape;579;p90"/>
          <p:cNvGrpSpPr/>
          <p:nvPr/>
        </p:nvGrpSpPr>
        <p:grpSpPr>
          <a:xfrm>
            <a:off x="3019906" y="3901872"/>
            <a:ext cx="1861139" cy="758999"/>
            <a:chOff x="5025821" y="4804264"/>
            <a:chExt cx="2144911" cy="968852"/>
          </a:xfrm>
        </p:grpSpPr>
        <p:sp>
          <p:nvSpPr>
            <p:cNvPr id="580" name="Google Shape;580;p90"/>
            <p:cNvSpPr/>
            <p:nvPr/>
          </p:nvSpPr>
          <p:spPr>
            <a:xfrm>
              <a:off x="5025821" y="4964966"/>
              <a:ext cx="2144911"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1" name="Google Shape;581;p90"/>
            <p:cNvSpPr/>
            <p:nvPr/>
          </p:nvSpPr>
          <p:spPr>
            <a:xfrm>
              <a:off x="5025821" y="4804264"/>
              <a:ext cx="2140500" cy="300300"/>
            </a:xfrm>
            <a:prstGeom prst="ellips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sp>
        <p:nvSpPr>
          <p:cNvPr id="582" name="Google Shape;582;p90"/>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ENGAGE Lead Nurture</a:t>
            </a:r>
            <a:endParaRPr/>
          </a:p>
        </p:txBody>
      </p:sp>
      <p:grpSp>
        <p:nvGrpSpPr>
          <p:cNvPr id="583" name="Google Shape;583;p90"/>
          <p:cNvGrpSpPr/>
          <p:nvPr/>
        </p:nvGrpSpPr>
        <p:grpSpPr>
          <a:xfrm>
            <a:off x="2786568" y="3180003"/>
            <a:ext cx="2295692" cy="865572"/>
            <a:chOff x="4801083" y="3947398"/>
            <a:chExt cx="2592245" cy="968852"/>
          </a:xfrm>
        </p:grpSpPr>
        <p:sp>
          <p:nvSpPr>
            <p:cNvPr id="584" name="Google Shape;584;p90"/>
            <p:cNvSpPr/>
            <p:nvPr/>
          </p:nvSpPr>
          <p:spPr>
            <a:xfrm>
              <a:off x="4801083" y="4108100"/>
              <a:ext cx="2592245"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FDA54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5" name="Google Shape;585;p90"/>
            <p:cNvSpPr/>
            <p:nvPr/>
          </p:nvSpPr>
          <p:spPr>
            <a:xfrm>
              <a:off x="4801084" y="3947398"/>
              <a:ext cx="2589900" cy="300300"/>
            </a:xfrm>
            <a:prstGeom prst="ellipse">
              <a:avLst/>
            </a:prstGeom>
            <a:solidFill>
              <a:srgbClr val="EE7E0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6" name="Google Shape;586;p90"/>
          <p:cNvGrpSpPr/>
          <p:nvPr/>
        </p:nvGrpSpPr>
        <p:grpSpPr>
          <a:xfrm>
            <a:off x="2545745" y="2490681"/>
            <a:ext cx="2775294" cy="865572"/>
            <a:chOff x="4529151" y="3090534"/>
            <a:chExt cx="3133801" cy="968852"/>
          </a:xfrm>
        </p:grpSpPr>
        <p:sp>
          <p:nvSpPr>
            <p:cNvPr id="587" name="Google Shape;587;p90"/>
            <p:cNvSpPr/>
            <p:nvPr/>
          </p:nvSpPr>
          <p:spPr>
            <a:xfrm>
              <a:off x="4529151" y="3251236"/>
              <a:ext cx="3131340"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570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88" name="Google Shape;588;p90"/>
            <p:cNvSpPr/>
            <p:nvPr/>
          </p:nvSpPr>
          <p:spPr>
            <a:xfrm>
              <a:off x="4529152" y="3090534"/>
              <a:ext cx="3133800" cy="300300"/>
            </a:xfrm>
            <a:prstGeom prst="ellipse">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89" name="Google Shape;589;p90"/>
          <p:cNvGrpSpPr/>
          <p:nvPr/>
        </p:nvGrpSpPr>
        <p:grpSpPr>
          <a:xfrm>
            <a:off x="2254349" y="1648958"/>
            <a:ext cx="3362275" cy="865572"/>
            <a:chOff x="4200113" y="2233670"/>
            <a:chExt cx="3796606" cy="968852"/>
          </a:xfrm>
        </p:grpSpPr>
        <p:sp>
          <p:nvSpPr>
            <p:cNvPr id="590" name="Google Shape;590;p90"/>
            <p:cNvSpPr/>
            <p:nvPr/>
          </p:nvSpPr>
          <p:spPr>
            <a:xfrm>
              <a:off x="4200113" y="2394372"/>
              <a:ext cx="3796606"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1" name="Google Shape;591;p90"/>
            <p:cNvSpPr/>
            <p:nvPr/>
          </p:nvSpPr>
          <p:spPr>
            <a:xfrm>
              <a:off x="4200114" y="2233670"/>
              <a:ext cx="3791700" cy="300300"/>
            </a:xfrm>
            <a:prstGeom prst="ellipse">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2" name="Google Shape;592;p90"/>
          <p:cNvGrpSpPr/>
          <p:nvPr/>
        </p:nvGrpSpPr>
        <p:grpSpPr>
          <a:xfrm>
            <a:off x="1901760" y="731036"/>
            <a:ext cx="4063172" cy="865572"/>
            <a:chOff x="3801977" y="1376806"/>
            <a:chExt cx="4588044" cy="968852"/>
          </a:xfrm>
        </p:grpSpPr>
        <p:sp>
          <p:nvSpPr>
            <p:cNvPr id="593" name="Google Shape;593;p90"/>
            <p:cNvSpPr/>
            <p:nvPr/>
          </p:nvSpPr>
          <p:spPr>
            <a:xfrm>
              <a:off x="3801977" y="1537508"/>
              <a:ext cx="4588044" cy="808150"/>
            </a:xfrm>
            <a:custGeom>
              <a:rect b="b" l="l" r="r" t="t"/>
              <a:pathLst>
                <a:path extrusionOk="0" h="1000805" w="4588044">
                  <a:moveTo>
                    <a:pt x="0" y="0"/>
                  </a:moveTo>
                  <a:lnTo>
                    <a:pt x="4588044" y="0"/>
                  </a:lnTo>
                  <a:lnTo>
                    <a:pt x="4205707" y="821010"/>
                  </a:lnTo>
                  <a:lnTo>
                    <a:pt x="4199131" y="821010"/>
                  </a:lnTo>
                  <a:lnTo>
                    <a:pt x="4166868" y="852174"/>
                  </a:lnTo>
                  <a:cubicBezTo>
                    <a:pt x="3988610" y="936998"/>
                    <a:pt x="3217841" y="1000805"/>
                    <a:pt x="2294021" y="1000805"/>
                  </a:cubicBezTo>
                  <a:cubicBezTo>
                    <a:pt x="1370202" y="1000805"/>
                    <a:pt x="599433" y="936998"/>
                    <a:pt x="421175" y="852174"/>
                  </a:cubicBezTo>
                  <a:lnTo>
                    <a:pt x="388911" y="821010"/>
                  </a:lnTo>
                  <a:lnTo>
                    <a:pt x="382337" y="821010"/>
                  </a:lnTo>
                  <a:close/>
                </a:path>
              </a:pathLst>
            </a:custGeom>
            <a:solidFill>
              <a:srgbClr val="7AC5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sp>
          <p:nvSpPr>
            <p:cNvPr id="594" name="Google Shape;594;p90"/>
            <p:cNvSpPr/>
            <p:nvPr/>
          </p:nvSpPr>
          <p:spPr>
            <a:xfrm>
              <a:off x="3801978" y="1376806"/>
              <a:ext cx="4587900" cy="300300"/>
            </a:xfrm>
            <a:prstGeom prst="ellipse">
              <a:avLst/>
            </a:prstGeom>
            <a:solidFill>
              <a:srgbClr val="5A982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799" u="none" cap="none" strike="noStrike">
                <a:solidFill>
                  <a:srgbClr val="FFFFFF"/>
                </a:solidFill>
                <a:latin typeface="Geo"/>
                <a:ea typeface="Geo"/>
                <a:cs typeface="Geo"/>
                <a:sym typeface="Geo"/>
              </a:endParaRPr>
            </a:p>
          </p:txBody>
        </p:sp>
      </p:grpSp>
      <p:grpSp>
        <p:nvGrpSpPr>
          <p:cNvPr id="595" name="Google Shape;595;p90"/>
          <p:cNvGrpSpPr/>
          <p:nvPr/>
        </p:nvGrpSpPr>
        <p:grpSpPr>
          <a:xfrm>
            <a:off x="212599" y="739164"/>
            <a:ext cx="1512492" cy="374246"/>
            <a:chOff x="838200" y="1705950"/>
            <a:chExt cx="2066811" cy="457569"/>
          </a:xfrm>
        </p:grpSpPr>
        <p:sp>
          <p:nvSpPr>
            <p:cNvPr id="596" name="Google Shape;596;p90"/>
            <p:cNvSpPr/>
            <p:nvPr/>
          </p:nvSpPr>
          <p:spPr>
            <a:xfrm>
              <a:off x="1052511" y="1739599"/>
              <a:ext cx="1852500" cy="423900"/>
            </a:xfrm>
            <a:prstGeom prst="homePlate">
              <a:avLst>
                <a:gd fmla="val 50000" name="adj"/>
              </a:avLst>
            </a:prstGeom>
            <a:solidFill>
              <a:srgbClr val="5A982F"/>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All</a:t>
              </a:r>
              <a:endParaRPr sz="800"/>
            </a:p>
          </p:txBody>
        </p:sp>
        <p:sp>
          <p:nvSpPr>
            <p:cNvPr id="597" name="Google Shape;597;p90"/>
            <p:cNvSpPr/>
            <p:nvPr/>
          </p:nvSpPr>
          <p:spPr>
            <a:xfrm>
              <a:off x="838200" y="1705950"/>
              <a:ext cx="428700" cy="428700"/>
            </a:xfrm>
            <a:prstGeom prst="rect">
              <a:avLst/>
            </a:prstGeom>
            <a:solidFill>
              <a:srgbClr val="7AC54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1</a:t>
              </a:r>
              <a:endParaRPr sz="800"/>
            </a:p>
          </p:txBody>
        </p:sp>
        <p:sp>
          <p:nvSpPr>
            <p:cNvPr id="598" name="Google Shape;598;p90"/>
            <p:cNvSpPr/>
            <p:nvPr/>
          </p:nvSpPr>
          <p:spPr>
            <a:xfrm flipH="1" rot="10800000">
              <a:off x="1052511" y="2105619"/>
              <a:ext cx="214200" cy="57900"/>
            </a:xfrm>
            <a:prstGeom prst="rtTriangle">
              <a:avLst/>
            </a:prstGeom>
            <a:solidFill>
              <a:srgbClr val="3C65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599" name="Google Shape;599;p90"/>
          <p:cNvGrpSpPr/>
          <p:nvPr/>
        </p:nvGrpSpPr>
        <p:grpSpPr>
          <a:xfrm>
            <a:off x="433431" y="1709260"/>
            <a:ext cx="1512492" cy="397865"/>
            <a:chOff x="838200" y="2539138"/>
            <a:chExt cx="2066811" cy="486447"/>
          </a:xfrm>
        </p:grpSpPr>
        <p:sp>
          <p:nvSpPr>
            <p:cNvPr id="600" name="Google Shape;600;p90"/>
            <p:cNvSpPr/>
            <p:nvPr/>
          </p:nvSpPr>
          <p:spPr>
            <a:xfrm>
              <a:off x="1052511" y="2601665"/>
              <a:ext cx="1852500" cy="423900"/>
            </a:xfrm>
            <a:prstGeom prst="homePlate">
              <a:avLst>
                <a:gd fmla="val 50000" name="adj"/>
              </a:avLst>
            </a:prstGeom>
            <a:solidFill>
              <a:srgbClr val="0B4978"/>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i="0" lang="en" sz="1000" u="none" cap="none" strike="noStrike">
                  <a:solidFill>
                    <a:srgbClr val="FFFFFF"/>
                  </a:solidFill>
                  <a:latin typeface="Geo"/>
                  <a:ea typeface="Geo"/>
                  <a:cs typeface="Geo"/>
                  <a:sym typeface="Geo"/>
                </a:rPr>
                <a:t>Identified</a:t>
              </a:r>
              <a:endParaRPr sz="800"/>
            </a:p>
          </p:txBody>
        </p:sp>
        <p:sp>
          <p:nvSpPr>
            <p:cNvPr id="601" name="Google Shape;601;p90"/>
            <p:cNvSpPr/>
            <p:nvPr/>
          </p:nvSpPr>
          <p:spPr>
            <a:xfrm>
              <a:off x="838200" y="2539138"/>
              <a:ext cx="428700" cy="428700"/>
            </a:xfrm>
            <a:prstGeom prst="rect">
              <a:avLst/>
            </a:prstGeom>
            <a:solidFill>
              <a:srgbClr val="1062A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2</a:t>
              </a:r>
              <a:endParaRPr sz="800"/>
            </a:p>
          </p:txBody>
        </p:sp>
        <p:sp>
          <p:nvSpPr>
            <p:cNvPr id="602" name="Google Shape;602;p90"/>
            <p:cNvSpPr/>
            <p:nvPr/>
          </p:nvSpPr>
          <p:spPr>
            <a:xfrm flipH="1" rot="10800000">
              <a:off x="1052511" y="2967685"/>
              <a:ext cx="214200" cy="57900"/>
            </a:xfrm>
            <a:prstGeom prst="rtTriangle">
              <a:avLst/>
            </a:prstGeom>
            <a:solidFill>
              <a:srgbClr val="0731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grpSp>
        <p:nvGrpSpPr>
          <p:cNvPr id="603" name="Google Shape;603;p90"/>
          <p:cNvGrpSpPr/>
          <p:nvPr/>
        </p:nvGrpSpPr>
        <p:grpSpPr>
          <a:xfrm>
            <a:off x="730463" y="2626774"/>
            <a:ext cx="1512492" cy="397865"/>
            <a:chOff x="838200" y="3401204"/>
            <a:chExt cx="2066811" cy="486447"/>
          </a:xfrm>
        </p:grpSpPr>
        <p:sp>
          <p:nvSpPr>
            <p:cNvPr id="604" name="Google Shape;604;p90"/>
            <p:cNvSpPr/>
            <p:nvPr/>
          </p:nvSpPr>
          <p:spPr>
            <a:xfrm>
              <a:off x="1052511" y="3463731"/>
              <a:ext cx="1852500" cy="423900"/>
            </a:xfrm>
            <a:prstGeom prst="homePlate">
              <a:avLst>
                <a:gd fmla="val 50000" name="adj"/>
              </a:avLst>
            </a:prstGeom>
            <a:solidFill>
              <a:srgbClr val="7B7B7B"/>
            </a:solidFill>
            <a:ln>
              <a:noFill/>
            </a:ln>
          </p:spPr>
          <p:txBody>
            <a:bodyPr anchorCtr="0" anchor="ctr" bIns="45700" lIns="91425" spcFirstLastPara="1" rIns="91425" wrap="square" tIns="45700">
              <a:noAutofit/>
            </a:bodyPr>
            <a:lstStyle/>
            <a:p>
              <a:pPr indent="0" lvl="0" marL="285664" marR="0" rtl="0" algn="l">
                <a:lnSpc>
                  <a:spcPct val="100000"/>
                </a:lnSpc>
                <a:spcBef>
                  <a:spcPts val="0"/>
                </a:spcBef>
                <a:spcAft>
                  <a:spcPts val="0"/>
                </a:spcAft>
                <a:buClr>
                  <a:srgbClr val="FFFFFF"/>
                </a:buClr>
                <a:buSzPts val="1600"/>
                <a:buFont typeface="Geo"/>
                <a:buNone/>
              </a:pPr>
              <a:r>
                <a:rPr b="1" lang="en" sz="1000">
                  <a:solidFill>
                    <a:srgbClr val="FFFFFF"/>
                  </a:solidFill>
                  <a:latin typeface="Geo"/>
                  <a:ea typeface="Geo"/>
                  <a:cs typeface="Geo"/>
                  <a:sym typeface="Geo"/>
                </a:rPr>
                <a:t>Nurtured</a:t>
              </a:r>
              <a:endParaRPr sz="800"/>
            </a:p>
          </p:txBody>
        </p:sp>
        <p:sp>
          <p:nvSpPr>
            <p:cNvPr id="605" name="Google Shape;605;p90"/>
            <p:cNvSpPr/>
            <p:nvPr/>
          </p:nvSpPr>
          <p:spPr>
            <a:xfrm>
              <a:off x="838200" y="3401204"/>
              <a:ext cx="428700" cy="428700"/>
            </a:xfrm>
            <a:prstGeom prst="rect">
              <a:avLst/>
            </a:prstGeom>
            <a:solidFill>
              <a:srgbClr val="B9B9B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Geo"/>
                <a:buNone/>
              </a:pPr>
              <a:r>
                <a:rPr lang="en" sz="1000">
                  <a:solidFill>
                    <a:srgbClr val="FFFFFF"/>
                  </a:solidFill>
                  <a:latin typeface="Geo"/>
                  <a:ea typeface="Geo"/>
                  <a:cs typeface="Geo"/>
                  <a:sym typeface="Geo"/>
                </a:rPr>
                <a:t>3</a:t>
              </a:r>
              <a:endParaRPr sz="800"/>
            </a:p>
          </p:txBody>
        </p:sp>
        <p:sp>
          <p:nvSpPr>
            <p:cNvPr id="606" name="Google Shape;606;p90"/>
            <p:cNvSpPr/>
            <p:nvPr/>
          </p:nvSpPr>
          <p:spPr>
            <a:xfrm flipH="1" rot="10800000">
              <a:off x="1052511" y="3829751"/>
              <a:ext cx="214200" cy="57900"/>
            </a:xfrm>
            <a:prstGeom prst="rtTriangle">
              <a:avLst/>
            </a:prstGeom>
            <a:solidFill>
              <a:srgbClr val="3D3D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99"/>
                <a:buFont typeface="Open Sans Light"/>
                <a:buNone/>
              </a:pPr>
              <a:r>
                <a:t/>
              </a:r>
              <a:endParaRPr b="0" i="0" sz="1199" u="none" cap="none" strike="noStrike">
                <a:solidFill>
                  <a:srgbClr val="FFFFFF"/>
                </a:solidFill>
                <a:latin typeface="Geo"/>
                <a:ea typeface="Geo"/>
                <a:cs typeface="Geo"/>
                <a:sym typeface="Geo"/>
              </a:endParaRPr>
            </a:p>
          </p:txBody>
        </p:sp>
      </p:grpSp>
      <p:sp>
        <p:nvSpPr>
          <p:cNvPr id="607" name="Google Shape;607;p90"/>
          <p:cNvSpPr/>
          <p:nvPr/>
        </p:nvSpPr>
        <p:spPr>
          <a:xfrm>
            <a:off x="2994910" y="1202820"/>
            <a:ext cx="20376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All Website Visitors</a:t>
            </a:r>
            <a:endParaRPr/>
          </a:p>
        </p:txBody>
      </p:sp>
      <p:sp>
        <p:nvSpPr>
          <p:cNvPr id="608" name="Google Shape;608;p90"/>
          <p:cNvSpPr/>
          <p:nvPr/>
        </p:nvSpPr>
        <p:spPr>
          <a:xfrm>
            <a:off x="2658519" y="2064198"/>
            <a:ext cx="25539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b="0" i="0" lang="en" sz="1800" u="none" cap="none" strike="noStrike">
                <a:solidFill>
                  <a:srgbClr val="FFFFFF"/>
                </a:solidFill>
                <a:latin typeface="Geo"/>
                <a:ea typeface="Geo"/>
                <a:cs typeface="Geo"/>
                <a:sym typeface="Geo"/>
              </a:rPr>
              <a:t>Identified Visitors</a:t>
            </a:r>
            <a:endParaRPr/>
          </a:p>
        </p:txBody>
      </p:sp>
      <p:sp>
        <p:nvSpPr>
          <p:cNvPr id="609" name="Google Shape;609;p90"/>
          <p:cNvSpPr/>
          <p:nvPr/>
        </p:nvSpPr>
        <p:spPr>
          <a:xfrm>
            <a:off x="2929873" y="2941075"/>
            <a:ext cx="21108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Nurture</a:t>
            </a:r>
            <a:endParaRPr b="0" i="0" sz="1800" u="none" cap="none" strike="noStrike">
              <a:solidFill>
                <a:srgbClr val="FFFFFF"/>
              </a:solidFill>
              <a:latin typeface="Geo"/>
              <a:ea typeface="Geo"/>
              <a:cs typeface="Geo"/>
              <a:sym typeface="Geo"/>
            </a:endParaRPr>
          </a:p>
        </p:txBody>
      </p:sp>
      <p:sp>
        <p:nvSpPr>
          <p:cNvPr id="610" name="Google Shape;610;p90"/>
          <p:cNvSpPr/>
          <p:nvPr/>
        </p:nvSpPr>
        <p:spPr>
          <a:xfrm>
            <a:off x="2937368" y="3604862"/>
            <a:ext cx="2026200" cy="204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Lead</a:t>
            </a:r>
            <a:endParaRPr b="0" i="0" sz="1800" u="none" cap="none" strike="noStrike">
              <a:solidFill>
                <a:srgbClr val="FFFFFF"/>
              </a:solidFill>
              <a:latin typeface="Geo"/>
              <a:ea typeface="Geo"/>
              <a:cs typeface="Geo"/>
              <a:sym typeface="Geo"/>
            </a:endParaRPr>
          </a:p>
        </p:txBody>
      </p:sp>
      <p:sp>
        <p:nvSpPr>
          <p:cNvPr id="611" name="Google Shape;611;p90"/>
          <p:cNvSpPr txBox="1"/>
          <p:nvPr/>
        </p:nvSpPr>
        <p:spPr>
          <a:xfrm>
            <a:off x="311067" y="2103947"/>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Visitors We Identify</a:t>
            </a:r>
            <a:endParaRPr b="1" i="0" sz="1100" u="none" cap="none" strike="noStrike">
              <a:solidFill>
                <a:srgbClr val="1062A1"/>
              </a:solidFill>
              <a:latin typeface="Geo"/>
              <a:ea typeface="Geo"/>
              <a:cs typeface="Geo"/>
              <a:sym typeface="Geo"/>
            </a:endParaRPr>
          </a:p>
        </p:txBody>
      </p:sp>
      <p:sp>
        <p:nvSpPr>
          <p:cNvPr id="612" name="Google Shape;612;p90"/>
          <p:cNvSpPr txBox="1"/>
          <p:nvPr/>
        </p:nvSpPr>
        <p:spPr>
          <a:xfrm>
            <a:off x="323368" y="3050363"/>
            <a:ext cx="20820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lang="en" sz="1100">
                <a:solidFill>
                  <a:srgbClr val="1062A1"/>
                </a:solidFill>
                <a:latin typeface="Geo"/>
                <a:ea typeface="Geo"/>
                <a:cs typeface="Geo"/>
                <a:sym typeface="Geo"/>
              </a:rPr>
              <a:t>Email Sequence</a:t>
            </a:r>
            <a:endParaRPr b="1" i="0" sz="1100" u="none" cap="none" strike="noStrike">
              <a:solidFill>
                <a:srgbClr val="1062A1"/>
              </a:solidFill>
              <a:latin typeface="Geo"/>
              <a:ea typeface="Geo"/>
              <a:cs typeface="Geo"/>
              <a:sym typeface="Geo"/>
            </a:endParaRPr>
          </a:p>
        </p:txBody>
      </p:sp>
      <p:sp>
        <p:nvSpPr>
          <p:cNvPr id="613" name="Google Shape;613;p90"/>
          <p:cNvSpPr/>
          <p:nvPr/>
        </p:nvSpPr>
        <p:spPr>
          <a:xfrm>
            <a:off x="266525" y="2257019"/>
            <a:ext cx="2037600" cy="2574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lang="en" sz="700">
                <a:latin typeface="Open Sans Light"/>
                <a:ea typeface="Open Sans Light"/>
                <a:cs typeface="Open Sans Light"/>
                <a:sym typeface="Open Sans Light"/>
              </a:rPr>
              <a:t>Engaged User</a:t>
            </a:r>
            <a:endParaRPr sz="700">
              <a:latin typeface="Open Sans Light"/>
              <a:ea typeface="Open Sans Light"/>
              <a:cs typeface="Open Sans Light"/>
              <a:sym typeface="Open Sans Light"/>
            </a:endParaRPr>
          </a:p>
          <a:p>
            <a:pPr indent="-145999" lvl="0" marL="171399" marR="0" rtl="0" algn="l">
              <a:lnSpc>
                <a:spcPct val="100000"/>
              </a:lnSpc>
              <a:spcBef>
                <a:spcPts val="0"/>
              </a:spcBef>
              <a:spcAft>
                <a:spcPts val="0"/>
              </a:spcAft>
              <a:buSzPts val="700"/>
              <a:buFont typeface="Open Sans Light"/>
              <a:buChar char="▪"/>
            </a:pPr>
            <a:r>
              <a:rPr lang="en" sz="700">
                <a:latin typeface="Open Sans Light"/>
                <a:ea typeface="Open Sans Light"/>
                <a:cs typeface="Open Sans Light"/>
                <a:sym typeface="Open Sans Light"/>
              </a:rPr>
              <a:t>VDP views</a:t>
            </a:r>
            <a:endParaRPr sz="700">
              <a:latin typeface="Open Sans Light"/>
              <a:ea typeface="Open Sans Light"/>
              <a:cs typeface="Open Sans Light"/>
              <a:sym typeface="Open Sans Light"/>
            </a:endParaRPr>
          </a:p>
          <a:p>
            <a:pPr indent="-101549" lvl="0" marL="171399" marR="0" rtl="0" algn="l">
              <a:lnSpc>
                <a:spcPct val="100000"/>
              </a:lnSpc>
              <a:spcBef>
                <a:spcPts val="0"/>
              </a:spcBef>
              <a:spcAft>
                <a:spcPts val="0"/>
              </a:spcAft>
              <a:buClr>
                <a:srgbClr val="000D71"/>
              </a:buClr>
              <a:buSzPts val="1100"/>
              <a:buFont typeface="Noto Sans Symbols"/>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4" name="Google Shape;614;p90"/>
          <p:cNvSpPr/>
          <p:nvPr/>
        </p:nvSpPr>
        <p:spPr>
          <a:xfrm>
            <a:off x="263800" y="3290075"/>
            <a:ext cx="1979100" cy="4911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7F7F7F"/>
              </a:buClr>
              <a:buSzPts val="700"/>
              <a:buFont typeface="Noto Sans Symbols"/>
              <a:buChar char="▪"/>
            </a:pPr>
            <a:r>
              <a:rPr lang="en" sz="700">
                <a:latin typeface="Open Sans Light"/>
                <a:ea typeface="Open Sans Light"/>
                <a:cs typeface="Open Sans Light"/>
                <a:sym typeface="Open Sans Light"/>
              </a:rPr>
              <a:t>Re-engage prospect with multiple emails</a:t>
            </a:r>
            <a:endParaRPr b="0" i="0" sz="700" u="none" cap="none" strike="noStrike">
              <a:solidFill>
                <a:srgbClr val="000000"/>
              </a:solidFill>
              <a:latin typeface="Open Sans Light"/>
              <a:ea typeface="Open Sans Light"/>
              <a:cs typeface="Open Sans Light"/>
              <a:sym typeface="Open Sans Light"/>
            </a:endParaRPr>
          </a:p>
          <a:p>
            <a:pPr indent="0" lvl="0" marL="0" marR="0" rtl="0" algn="l">
              <a:lnSpc>
                <a:spcPct val="100000"/>
              </a:lnSpc>
              <a:spcBef>
                <a:spcPts val="0"/>
              </a:spcBef>
              <a:spcAft>
                <a:spcPts val="0"/>
              </a:spcAft>
              <a:buNone/>
            </a:pPr>
            <a:r>
              <a:t/>
            </a:r>
            <a:endParaRPr b="0" i="0" sz="700" u="none" cap="none" strike="noStrike">
              <a:solidFill>
                <a:srgbClr val="000000"/>
              </a:solidFill>
              <a:latin typeface="Open Sans Light"/>
              <a:ea typeface="Open Sans Light"/>
              <a:cs typeface="Open Sans Light"/>
              <a:sym typeface="Open Sans Light"/>
            </a:endParaRPr>
          </a:p>
        </p:txBody>
      </p:sp>
      <p:sp>
        <p:nvSpPr>
          <p:cNvPr id="615" name="Google Shape;615;p90"/>
          <p:cNvSpPr txBox="1"/>
          <p:nvPr/>
        </p:nvSpPr>
        <p:spPr>
          <a:xfrm>
            <a:off x="322318" y="1156290"/>
            <a:ext cx="1861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062A1"/>
              </a:buClr>
              <a:buSzPts val="1600"/>
              <a:buFont typeface="Geo"/>
              <a:buNone/>
            </a:pPr>
            <a:r>
              <a:rPr b="1" i="0" lang="en" sz="1100" u="none" cap="none" strike="noStrike">
                <a:solidFill>
                  <a:srgbClr val="1062A1"/>
                </a:solidFill>
                <a:latin typeface="Geo"/>
                <a:ea typeface="Geo"/>
                <a:cs typeface="Geo"/>
                <a:sym typeface="Geo"/>
              </a:rPr>
              <a:t>All Of Your Website Traffic</a:t>
            </a:r>
            <a:endParaRPr sz="900"/>
          </a:p>
        </p:txBody>
      </p:sp>
      <p:sp>
        <p:nvSpPr>
          <p:cNvPr id="616" name="Google Shape;616;p90"/>
          <p:cNvSpPr/>
          <p:nvPr/>
        </p:nvSpPr>
        <p:spPr>
          <a:xfrm>
            <a:off x="277783" y="1385555"/>
            <a:ext cx="1340100" cy="352500"/>
          </a:xfrm>
          <a:prstGeom prst="rect">
            <a:avLst/>
          </a:prstGeom>
          <a:noFill/>
          <a:ln>
            <a:noFill/>
          </a:ln>
        </p:spPr>
        <p:txBody>
          <a:bodyPr anchorCtr="0" anchor="t" bIns="45700" lIns="91425" spcFirstLastPara="1" rIns="91425" wrap="square" tIns="45700">
            <a:noAutofit/>
          </a:bodyPr>
          <a:lstStyle/>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All traffic</a:t>
            </a:r>
            <a:endParaRPr sz="1000"/>
          </a:p>
          <a:p>
            <a:pPr indent="-145999" lvl="0" marL="171399" marR="0" rtl="0" algn="l">
              <a:lnSpc>
                <a:spcPct val="100000"/>
              </a:lnSpc>
              <a:spcBef>
                <a:spcPts val="0"/>
              </a:spcBef>
              <a:spcAft>
                <a:spcPts val="0"/>
              </a:spcAft>
              <a:buClr>
                <a:srgbClr val="000D71"/>
              </a:buClr>
              <a:buSzPts val="700"/>
              <a:buFont typeface="Noto Sans Symbols"/>
              <a:buChar char="▪"/>
            </a:pPr>
            <a:r>
              <a:rPr b="0" i="0" lang="en" sz="700" u="none" cap="none" strike="noStrike">
                <a:solidFill>
                  <a:srgbClr val="000000"/>
                </a:solidFill>
                <a:latin typeface="Open Sans Light"/>
                <a:ea typeface="Open Sans Light"/>
                <a:cs typeface="Open Sans Light"/>
                <a:sym typeface="Open Sans Light"/>
              </a:rPr>
              <a:t>Google Analytics </a:t>
            </a:r>
            <a:endParaRPr b="0" i="0" sz="700" u="none" cap="none" strike="noStrike">
              <a:solidFill>
                <a:srgbClr val="000000"/>
              </a:solidFill>
              <a:latin typeface="Open Sans Light"/>
              <a:ea typeface="Open Sans Light"/>
              <a:cs typeface="Open Sans Light"/>
              <a:sym typeface="Open Sans Light"/>
            </a:endParaRPr>
          </a:p>
        </p:txBody>
      </p:sp>
      <p:sp>
        <p:nvSpPr>
          <p:cNvPr id="617" name="Google Shape;617;p90"/>
          <p:cNvSpPr/>
          <p:nvPr/>
        </p:nvSpPr>
        <p:spPr>
          <a:xfrm rot="-5400000">
            <a:off x="7343097" y="2838291"/>
            <a:ext cx="593400" cy="3008400"/>
          </a:xfrm>
          <a:prstGeom prst="round2SameRect">
            <a:avLst>
              <a:gd fmla="val 26618" name="adj1"/>
              <a:gd fmla="val 0" name="adj2"/>
            </a:avLst>
          </a:prstGeom>
          <a:solidFill>
            <a:srgbClr val="0B49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Open Sans Light"/>
              <a:buNone/>
            </a:pPr>
            <a:r>
              <a:t/>
            </a:r>
            <a:endParaRPr b="0" i="0" sz="1800" u="none" cap="none" strike="noStrike">
              <a:solidFill>
                <a:srgbClr val="FFFFFF"/>
              </a:solidFill>
              <a:latin typeface="Open Sans Light"/>
              <a:ea typeface="Open Sans Light"/>
              <a:cs typeface="Open Sans Light"/>
              <a:sym typeface="Open Sans Light"/>
            </a:endParaRPr>
          </a:p>
        </p:txBody>
      </p:sp>
      <p:sp>
        <p:nvSpPr>
          <p:cNvPr id="618" name="Google Shape;618;p90"/>
          <p:cNvSpPr txBox="1"/>
          <p:nvPr/>
        </p:nvSpPr>
        <p:spPr>
          <a:xfrm>
            <a:off x="6281061" y="4075884"/>
            <a:ext cx="2754000" cy="563400"/>
          </a:xfrm>
          <a:prstGeom prst="rect">
            <a:avLst/>
          </a:prstGeom>
          <a:noFill/>
          <a:ln>
            <a:noFill/>
          </a:ln>
        </p:spPr>
        <p:txBody>
          <a:bodyPr anchorCtr="0" anchor="t" bIns="45700" lIns="91425" spcFirstLastPara="1" rIns="91425" wrap="square" tIns="45700">
            <a:normAutofit fontScale="47500"/>
          </a:bodyPr>
          <a:lstStyle/>
          <a:p>
            <a:pPr indent="0" lvl="0" marL="0" marR="0" rtl="0" algn="l">
              <a:lnSpc>
                <a:spcPct val="160000"/>
              </a:lnSpc>
              <a:spcBef>
                <a:spcPts val="0"/>
              </a:spcBef>
              <a:spcAft>
                <a:spcPts val="0"/>
              </a:spcAft>
              <a:buClr>
                <a:srgbClr val="FFFFFF"/>
              </a:buClr>
              <a:buSzPct val="100000"/>
              <a:buFont typeface="Arial"/>
              <a:buNone/>
            </a:pPr>
            <a:r>
              <a:rPr b="0" i="0" lang="en" sz="1800" u="none" cap="none" strike="noStrike">
                <a:solidFill>
                  <a:srgbClr val="FFFFFF"/>
                </a:solidFill>
                <a:latin typeface="Poppins"/>
                <a:ea typeface="Poppins"/>
                <a:cs typeface="Poppins"/>
                <a:sym typeface="Poppins"/>
              </a:rPr>
              <a:t>Identify and Influence Your Most Engaged Website Visitors into Sales-Ready Leads.</a:t>
            </a:r>
            <a:endParaRPr b="0" i="0" sz="1800" u="none" cap="none" strike="noStrike">
              <a:solidFill>
                <a:srgbClr val="FFFFFF"/>
              </a:solidFill>
              <a:latin typeface="Poppins"/>
              <a:ea typeface="Poppins"/>
              <a:cs typeface="Poppins"/>
              <a:sym typeface="Poppins"/>
            </a:endParaRPr>
          </a:p>
        </p:txBody>
      </p:sp>
      <p:sp>
        <p:nvSpPr>
          <p:cNvPr id="619" name="Google Shape;619;p90"/>
          <p:cNvSpPr/>
          <p:nvPr/>
        </p:nvSpPr>
        <p:spPr>
          <a:xfrm>
            <a:off x="3616477" y="4307047"/>
            <a:ext cx="801300" cy="178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1800"/>
              <a:buFont typeface="Geo"/>
              <a:buNone/>
            </a:pPr>
            <a:r>
              <a:rPr lang="en" sz="1800">
                <a:solidFill>
                  <a:srgbClr val="FFFFFF"/>
                </a:solidFill>
                <a:latin typeface="Geo"/>
                <a:ea typeface="Geo"/>
                <a:cs typeface="Geo"/>
                <a:sym typeface="Geo"/>
              </a:rPr>
              <a:t>Sale</a:t>
            </a:r>
            <a:endParaRPr/>
          </a:p>
        </p:txBody>
      </p:sp>
      <p:sp>
        <p:nvSpPr>
          <p:cNvPr id="620" name="Google Shape;620;p90"/>
          <p:cNvSpPr txBox="1"/>
          <p:nvPr/>
        </p:nvSpPr>
        <p:spPr>
          <a:xfrm>
            <a:off x="5999675" y="844300"/>
            <a:ext cx="2889000" cy="2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595959"/>
                </a:solidFill>
                <a:latin typeface="Roboto"/>
                <a:ea typeface="Roboto"/>
                <a:cs typeface="Roboto"/>
                <a:sym typeface="Roboto"/>
              </a:rPr>
              <a:t>Unique means 1 email id (they could’ve opened or clicked multiple times)</a:t>
            </a:r>
            <a:endParaRPr sz="800">
              <a:solidFill>
                <a:srgbClr val="595959"/>
              </a:solidFill>
              <a:latin typeface="Roboto"/>
              <a:ea typeface="Roboto"/>
              <a:cs typeface="Roboto"/>
              <a:sym typeface="Roboto"/>
            </a:endParaRPr>
          </a:p>
        </p:txBody>
      </p:sp>
      <p:graphicFrame>
        <p:nvGraphicFramePr>
          <p:cNvPr id="621" name="Google Shape;621;p90"/>
          <p:cNvGraphicFramePr/>
          <p:nvPr/>
        </p:nvGraphicFramePr>
        <p:xfrm>
          <a:off x="6248800" y="1406825"/>
          <a:ext cx="3000000" cy="3000000"/>
        </p:xfrm>
        <a:graphic>
          <a:graphicData uri="http://schemas.openxmlformats.org/drawingml/2006/table">
            <a:tbl>
              <a:tblPr>
                <a:noFill/>
                <a:tableStyleId>{12582AF7-009F-48A2-9A44-981834622FC7}</a:tableStyleId>
              </a:tblPr>
              <a:tblGrid>
                <a:gridCol w="1412125"/>
                <a:gridCol w="923725"/>
              </a:tblGrid>
              <a:tr h="379000">
                <a:tc>
                  <a:txBody>
                    <a:bodyPr/>
                    <a:lstStyle/>
                    <a:p>
                      <a:pPr indent="0" lvl="0" marL="0" rtl="0" algn="l">
                        <a:spcBef>
                          <a:spcPts val="0"/>
                        </a:spcBef>
                        <a:spcAft>
                          <a:spcPts val="0"/>
                        </a:spcAft>
                        <a:buNone/>
                      </a:pPr>
                      <a:r>
                        <a:rPr b="1" lang="en" sz="1100">
                          <a:solidFill>
                            <a:srgbClr val="212121"/>
                          </a:solidFill>
                          <a:latin typeface="Roboto"/>
                          <a:ea typeface="Roboto"/>
                          <a:cs typeface="Roboto"/>
                          <a:sym typeface="Roboto"/>
                        </a:rPr>
                        <a:t>Overview</a:t>
                      </a:r>
                      <a:endParaRPr b="1" sz="1100">
                        <a:solidFill>
                          <a:srgbClr val="212121"/>
                        </a:solidFill>
                        <a:latin typeface="Roboto"/>
                        <a:ea typeface="Roboto"/>
                        <a:cs typeface="Roboto"/>
                        <a:sym typeface="Roboto"/>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c>
                  <a:txBody>
                    <a:bodyPr/>
                    <a:lstStyle/>
                    <a:p>
                      <a:pPr indent="0" lvl="0" marL="0" rtl="0" algn="l">
                        <a:spcBef>
                          <a:spcPts val="0"/>
                        </a:spcBef>
                        <a:spcAft>
                          <a:spcPts val="0"/>
                        </a:spcAft>
                        <a:buClr>
                          <a:srgbClr val="000000"/>
                        </a:buClr>
                        <a:buSzPts val="1100"/>
                        <a:buFont typeface="Arial"/>
                        <a:buNone/>
                      </a:pPr>
                      <a:r>
                        <a:rPr b="1" lang="en" sz="1100"/>
                        <a:t>Zoomer’s RV</a:t>
                      </a:r>
                      <a:endParaRPr b="1" sz="1100">
                        <a:solidFill>
                          <a:srgbClr val="000000"/>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C1AD"/>
                    </a:solidFill>
                  </a:tcPr>
                </a:tc>
              </a:tr>
              <a:tr h="517800">
                <a:tc>
                  <a:txBody>
                    <a:bodyPr/>
                    <a:lstStyle/>
                    <a:p>
                      <a:pPr indent="0" lvl="0" marL="0" rtl="0" algn="l">
                        <a:spcBef>
                          <a:spcPts val="0"/>
                        </a:spcBef>
                        <a:spcAft>
                          <a:spcPts val="0"/>
                        </a:spcAft>
                        <a:buClr>
                          <a:srgbClr val="000000"/>
                        </a:buClr>
                        <a:buSzPts val="1100"/>
                        <a:buFont typeface="Arial"/>
                        <a:buNone/>
                      </a:pPr>
                      <a:r>
                        <a:rPr b="1" lang="en" sz="1100">
                          <a:solidFill>
                            <a:srgbClr val="FFFFFF"/>
                          </a:solidFill>
                          <a:latin typeface="Roboto"/>
                          <a:ea typeface="Roboto"/>
                          <a:cs typeface="Roboto"/>
                          <a:sym typeface="Roboto"/>
                        </a:rPr>
                        <a:t>Identified Visitors</a:t>
                      </a:r>
                      <a:endParaRPr sz="11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062A1"/>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23250">
                <a:tc>
                  <a:txBody>
                    <a:bodyPr/>
                    <a:lstStyle/>
                    <a:p>
                      <a:pPr indent="0" lvl="0" marL="0" rtl="0" algn="l">
                        <a:spcBef>
                          <a:spcPts val="0"/>
                        </a:spcBef>
                        <a:spcAft>
                          <a:spcPts val="0"/>
                        </a:spcAft>
                        <a:buNone/>
                      </a:pPr>
                      <a:r>
                        <a:rPr b="1" lang="en" sz="1300">
                          <a:solidFill>
                            <a:srgbClr val="FFFFFF"/>
                          </a:solidFill>
                          <a:latin typeface="Roboto"/>
                          <a:ea typeface="Roboto"/>
                          <a:cs typeface="Roboto"/>
                          <a:sym typeface="Roboto"/>
                        </a:rPr>
                        <a:t>Unique Opens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754175">
                <a:tc>
                  <a:txBody>
                    <a:bodyPr/>
                    <a:lstStyle/>
                    <a:p>
                      <a:pPr indent="0" lvl="0" marL="0" rtl="0" algn="l">
                        <a:spcBef>
                          <a:spcPts val="0"/>
                        </a:spcBef>
                        <a:spcAft>
                          <a:spcPts val="0"/>
                        </a:spcAft>
                        <a:buClr>
                          <a:srgbClr val="000000"/>
                        </a:buClr>
                        <a:buSzPts val="1100"/>
                        <a:buFont typeface="Arial"/>
                        <a:buNone/>
                      </a:pPr>
                      <a:r>
                        <a:rPr b="1" lang="en" sz="1300">
                          <a:solidFill>
                            <a:srgbClr val="FFFFFF"/>
                          </a:solidFill>
                          <a:latin typeface="Roboto"/>
                          <a:ea typeface="Roboto"/>
                          <a:cs typeface="Roboto"/>
                          <a:sym typeface="Roboto"/>
                        </a:rPr>
                        <a:t>Unique Clicks</a:t>
                      </a:r>
                      <a:endParaRPr sz="900">
                        <a:solidFill>
                          <a:srgbClr val="FFFFFF"/>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B7B7B"/>
                    </a:solidFill>
                  </a:tcPr>
                </a:tc>
                <a:tc>
                  <a:txBody>
                    <a:bodyPr/>
                    <a:lstStyle/>
                    <a:p>
                      <a:pPr indent="0" lvl="0" marL="0" rtl="0" algn="l">
                        <a:spcBef>
                          <a:spcPts val="0"/>
                        </a:spcBef>
                        <a:spcAft>
                          <a:spcPts val="0"/>
                        </a:spcAft>
                        <a:buNone/>
                      </a:pPr>
                      <a:r>
                        <a:t/>
                      </a:r>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25" name="Shape 625"/>
        <p:cNvGrpSpPr/>
        <p:nvPr/>
      </p:nvGrpSpPr>
      <p:grpSpPr>
        <a:xfrm>
          <a:off x="0" y="0"/>
          <a:ext cx="0" cy="0"/>
          <a:chOff x="0" y="0"/>
          <a:chExt cx="0" cy="0"/>
        </a:xfrm>
      </p:grpSpPr>
      <p:sp>
        <p:nvSpPr>
          <p:cNvPr id="626" name="Google Shape;626;p9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SEO</a:t>
            </a:r>
            <a:endParaRPr sz="4800">
              <a:solidFill>
                <a:schemeClr val="lt1"/>
              </a:solidFill>
            </a:endParaRPr>
          </a:p>
        </p:txBody>
      </p:sp>
      <p:sp>
        <p:nvSpPr>
          <p:cNvPr id="627" name="Google Shape;627;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28" name="Google Shape;628;p9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29" name="Google Shape;629;p9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92"/>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Movements Summary:</a:t>
            </a:r>
            <a:endParaRPr/>
          </a:p>
        </p:txBody>
      </p:sp>
      <p:pic>
        <p:nvPicPr>
          <p:cNvPr id="635" name="Google Shape;635;p92"/>
          <p:cNvPicPr preferRelativeResize="0"/>
          <p:nvPr/>
        </p:nvPicPr>
        <p:blipFill rotWithShape="1">
          <a:blip r:embed="rId3">
            <a:alphaModFix/>
          </a:blip>
          <a:srcRect b="0" l="0" r="0" t="0"/>
          <a:stretch/>
        </p:blipFill>
        <p:spPr>
          <a:xfrm>
            <a:off x="3441699" y="424595"/>
            <a:ext cx="2260600" cy="342900"/>
          </a:xfrm>
          <a:prstGeom prst="rect">
            <a:avLst/>
          </a:prstGeom>
          <a:noFill/>
          <a:ln>
            <a:noFill/>
          </a:ln>
        </p:spPr>
      </p:pic>
      <p:sp>
        <p:nvSpPr>
          <p:cNvPr id="636" name="Google Shape;636;p92"/>
          <p:cNvSpPr txBox="1"/>
          <p:nvPr/>
        </p:nvSpPr>
        <p:spPr>
          <a:xfrm>
            <a:off x="519451" y="2041249"/>
            <a:ext cx="7925400" cy="26781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Overall Keyword Growth</a:t>
            </a:r>
            <a:r>
              <a:rPr b="0" i="0" lang="en" sz="1200" u="none" cap="none" strike="noStrike">
                <a:solidFill>
                  <a:srgbClr val="000000"/>
                </a:solidFill>
                <a:latin typeface="Arial"/>
                <a:ea typeface="Arial"/>
                <a:cs typeface="Arial"/>
                <a:sym typeface="Arial"/>
              </a:rPr>
              <a:t>: We've seen an impressive increase of </a:t>
            </a:r>
            <a:r>
              <a:rPr b="1" i="0" lang="en" sz="1200" u="none" cap="none" strike="noStrike">
                <a:solidFill>
                  <a:srgbClr val="000000"/>
                </a:solidFill>
                <a:latin typeface="Arial"/>
                <a:ea typeface="Arial"/>
                <a:cs typeface="Arial"/>
                <a:sym typeface="Arial"/>
              </a:rPr>
              <a:t>223 </a:t>
            </a:r>
            <a:r>
              <a:rPr b="0" i="0" lang="en" sz="1200" u="none" cap="none" strike="noStrike">
                <a:solidFill>
                  <a:srgbClr val="000000"/>
                </a:solidFill>
                <a:latin typeface="Arial"/>
                <a:ea typeface="Arial"/>
                <a:cs typeface="Arial"/>
                <a:sym typeface="Arial"/>
              </a:rPr>
              <a:t>keywords ranking higher since the start, showcasing the effectiveness of our optimization strategies.</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3 Keywords</a:t>
            </a:r>
            <a:r>
              <a:rPr b="0" i="0" lang="en" sz="1200" u="none" cap="none" strike="noStrike">
                <a:solidFill>
                  <a:srgbClr val="000000"/>
                </a:solidFill>
                <a:latin typeface="Arial"/>
                <a:ea typeface="Arial"/>
                <a:cs typeface="Arial"/>
                <a:sym typeface="Arial"/>
              </a:rPr>
              <a:t>: </a:t>
            </a:r>
            <a:r>
              <a:rPr b="1" i="0" lang="en" sz="1200" u="none" cap="none" strike="noStrike">
                <a:solidFill>
                  <a:srgbClr val="000000"/>
                </a:solidFill>
                <a:latin typeface="Arial"/>
                <a:ea typeface="Arial"/>
                <a:cs typeface="Arial"/>
                <a:sym typeface="Arial"/>
              </a:rPr>
              <a:t>127</a:t>
            </a:r>
            <a:r>
              <a:rPr b="0" i="0" lang="en" sz="1200" u="none" cap="none" strike="noStrike">
                <a:solidFill>
                  <a:srgbClr val="000000"/>
                </a:solidFill>
                <a:latin typeface="Arial"/>
                <a:ea typeface="Arial"/>
                <a:cs typeface="Arial"/>
                <a:sym typeface="Arial"/>
              </a:rPr>
              <a:t> keywords are now ranking in the top 3 positions, which is a fantastic milestone. This represents a </a:t>
            </a:r>
            <a:r>
              <a:rPr b="1" i="0" lang="en" sz="1200" u="none" cap="none" strike="noStrike">
                <a:solidFill>
                  <a:srgbClr val="000000"/>
                </a:solidFill>
                <a:latin typeface="Arial"/>
                <a:ea typeface="Arial"/>
                <a:cs typeface="Arial"/>
                <a:sym typeface="Arial"/>
              </a:rPr>
              <a:t>95.4% </a:t>
            </a:r>
            <a:r>
              <a:rPr b="0" i="0" lang="en" sz="1200" u="none" cap="none" strike="noStrike">
                <a:solidFill>
                  <a:srgbClr val="000000"/>
                </a:solidFill>
                <a:latin typeface="Arial"/>
                <a:ea typeface="Arial"/>
                <a:cs typeface="Arial"/>
                <a:sym typeface="Arial"/>
              </a:rPr>
              <a:t>increase and highlights how well we've aligned our efforts with user intent to drive relevant traffic.</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10 Keywords</a:t>
            </a:r>
            <a:r>
              <a:rPr b="0" i="0" lang="en" sz="1200" u="none" cap="none" strike="noStrike">
                <a:solidFill>
                  <a:srgbClr val="000000"/>
                </a:solidFill>
                <a:latin typeface="Arial"/>
                <a:ea typeface="Arial"/>
                <a:cs typeface="Arial"/>
                <a:sym typeface="Arial"/>
              </a:rPr>
              <a:t>: The increase of </a:t>
            </a:r>
            <a:r>
              <a:rPr b="1" i="0" lang="en" sz="1200" u="none" cap="none" strike="noStrike">
                <a:solidFill>
                  <a:srgbClr val="000000"/>
                </a:solidFill>
                <a:latin typeface="Arial"/>
                <a:ea typeface="Arial"/>
                <a:cs typeface="Arial"/>
                <a:sym typeface="Arial"/>
              </a:rPr>
              <a:t>250</a:t>
            </a:r>
            <a:r>
              <a:rPr b="0" i="0" lang="en" sz="1200" u="none" cap="none" strike="noStrike">
                <a:solidFill>
                  <a:srgbClr val="000000"/>
                </a:solidFill>
                <a:latin typeface="Arial"/>
                <a:ea typeface="Arial"/>
                <a:cs typeface="Arial"/>
                <a:sym typeface="Arial"/>
              </a:rPr>
              <a:t> keywords in the top 10 rankings is another strong indicator of success. With a </a:t>
            </a:r>
            <a:r>
              <a:rPr b="1" i="0" lang="en" sz="1200" u="none" cap="none" strike="noStrike">
                <a:solidFill>
                  <a:srgbClr val="000000"/>
                </a:solidFill>
                <a:latin typeface="Arial"/>
                <a:ea typeface="Arial"/>
                <a:cs typeface="Arial"/>
                <a:sym typeface="Arial"/>
              </a:rPr>
              <a:t>74.8% </a:t>
            </a:r>
            <a:r>
              <a:rPr b="0" i="0" lang="en" sz="1200" u="none" cap="none" strike="noStrike">
                <a:solidFill>
                  <a:srgbClr val="000000"/>
                </a:solidFill>
                <a:latin typeface="Arial"/>
                <a:ea typeface="Arial"/>
                <a:cs typeface="Arial"/>
                <a:sym typeface="Arial"/>
              </a:rPr>
              <a:t>improvement, it’s clear that we’re not only bringing in more traffic but also positioning content effectively for visibility.</a:t>
            </a:r>
            <a:br>
              <a:rPr b="0" i="0" lang="en" sz="1200" u="none" cap="none" strike="noStrike">
                <a:solidFill>
                  <a:srgbClr val="000000"/>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 sz="1200" u="none" cap="none" strike="noStrike">
                <a:solidFill>
                  <a:srgbClr val="000000"/>
                </a:solidFill>
                <a:latin typeface="Arial"/>
                <a:ea typeface="Arial"/>
                <a:cs typeface="Arial"/>
                <a:sym typeface="Arial"/>
              </a:rPr>
              <a:t>This massive improvement demonstrates that we’ve successfully optimized the keywords based on user intent, ensuring that our content resonates with what users are searching for, ultimately driving higher engagement and results. </a:t>
            </a:r>
            <a:endParaRPr/>
          </a:p>
        </p:txBody>
      </p:sp>
      <p:pic>
        <p:nvPicPr>
          <p:cNvPr id="637" name="Google Shape;637;p92"/>
          <p:cNvPicPr preferRelativeResize="0"/>
          <p:nvPr/>
        </p:nvPicPr>
        <p:blipFill rotWithShape="1">
          <a:blip r:embed="rId4">
            <a:alphaModFix/>
          </a:blip>
          <a:srcRect b="0" l="0" r="0" t="0"/>
          <a:stretch/>
        </p:blipFill>
        <p:spPr>
          <a:xfrm>
            <a:off x="2035288" y="767495"/>
            <a:ext cx="4617363" cy="117107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3"/>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Google Search Console Update – March-26 vs February-26</a:t>
            </a:r>
            <a:endParaRPr/>
          </a:p>
        </p:txBody>
      </p:sp>
      <p:pic>
        <p:nvPicPr>
          <p:cNvPr id="643" name="Google Shape;643;p93"/>
          <p:cNvPicPr preferRelativeResize="0"/>
          <p:nvPr/>
        </p:nvPicPr>
        <p:blipFill rotWithShape="1">
          <a:blip r:embed="rId3">
            <a:alphaModFix/>
          </a:blip>
          <a:srcRect b="0" l="0" r="0" t="0"/>
          <a:stretch/>
        </p:blipFill>
        <p:spPr>
          <a:xfrm>
            <a:off x="900110" y="740269"/>
            <a:ext cx="6897063" cy="1267002"/>
          </a:xfrm>
          <a:prstGeom prst="rect">
            <a:avLst/>
          </a:prstGeom>
          <a:noFill/>
          <a:ln>
            <a:noFill/>
          </a:ln>
        </p:spPr>
      </p:pic>
      <p:sp>
        <p:nvSpPr>
          <p:cNvPr id="644" name="Google Shape;644;p93"/>
          <p:cNvSpPr/>
          <p:nvPr/>
        </p:nvSpPr>
        <p:spPr>
          <a:xfrm>
            <a:off x="236764" y="2571750"/>
            <a:ext cx="8515500" cy="1569600"/>
          </a:xfrm>
          <a:prstGeom prst="rect">
            <a:avLst/>
          </a:prstGeom>
          <a:noFill/>
          <a:ln>
            <a:noFill/>
          </a:ln>
        </p:spPr>
        <p:txBody>
          <a:bodyPr anchorCtr="0" anchor="ctr"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clicks increased from 5.73K in February to 6.01K in March</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5% growth</a:t>
            </a:r>
            <a:r>
              <a:rPr b="0" i="0" lang="en" sz="1200" u="none" cap="none" strike="noStrike">
                <a:solidFill>
                  <a:schemeClr val="dk1"/>
                </a:solidFill>
                <a:latin typeface="Arial"/>
                <a:ea typeface="Arial"/>
                <a:cs typeface="Arial"/>
                <a:sym typeface="Arial"/>
              </a:rPr>
              <a:t>), indicating continued improvement in organic traffic.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Total impressions declined from 476K to 432K</a:t>
            </a:r>
            <a:r>
              <a:rPr b="0" i="0" lang="en" sz="1200" u="none" cap="none" strike="noStrike">
                <a:solidFill>
                  <a:schemeClr val="dk1"/>
                </a:solidFill>
                <a:latin typeface="Arial"/>
                <a:ea typeface="Arial"/>
                <a:cs typeface="Arial"/>
                <a:sym typeface="Arial"/>
              </a:rPr>
              <a:t> (approximately </a:t>
            </a:r>
            <a:r>
              <a:rPr b="1" i="0" lang="en" sz="1200" u="none" cap="none" strike="noStrike">
                <a:solidFill>
                  <a:schemeClr val="dk1"/>
                </a:solidFill>
                <a:latin typeface="Arial"/>
                <a:ea typeface="Arial"/>
                <a:cs typeface="Arial"/>
                <a:sym typeface="Arial"/>
              </a:rPr>
              <a:t>9% decrease</a:t>
            </a:r>
            <a:r>
              <a:rPr b="0" i="0" lang="en" sz="1200" u="none" cap="none" strike="noStrike">
                <a:solidFill>
                  <a:schemeClr val="dk1"/>
                </a:solidFill>
                <a:latin typeface="Arial"/>
                <a:ea typeface="Arial"/>
                <a:cs typeface="Arial"/>
                <a:sym typeface="Arial"/>
              </a:rPr>
              <a:t>), suggesting a reduction in overall search visibility or demand.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CTR improved from 1.2% to 1.4%</a:t>
            </a:r>
            <a:r>
              <a:rPr b="0" i="0" lang="en" sz="1200" u="none" cap="none" strike="noStrike">
                <a:solidFill>
                  <a:schemeClr val="dk1"/>
                </a:solidFill>
                <a:latin typeface="Arial"/>
                <a:ea typeface="Arial"/>
                <a:cs typeface="Arial"/>
                <a:sym typeface="Arial"/>
              </a:rPr>
              <a:t>, reflecting stronger engagement and better performance in converting impressions into clicks. </a:t>
            </a:r>
            <a:endParaRPr/>
          </a:p>
          <a:p>
            <a:pPr indent="-171450" lvl="0" marL="171450" marR="0" rtl="0" algn="l">
              <a:lnSpc>
                <a:spcPct val="100000"/>
              </a:lnSpc>
              <a:spcBef>
                <a:spcPts val="0"/>
              </a:spcBef>
              <a:spcAft>
                <a:spcPts val="0"/>
              </a:spcAft>
              <a:buClr>
                <a:schemeClr val="dk1"/>
              </a:buClr>
              <a:buSzPts val="1200"/>
              <a:buFont typeface="Arial"/>
              <a:buChar char="•"/>
            </a:pPr>
            <a:r>
              <a:rPr b="1" i="0" lang="en" sz="1200" u="none" cap="none" strike="noStrike">
                <a:solidFill>
                  <a:schemeClr val="dk1"/>
                </a:solidFill>
                <a:latin typeface="Arial"/>
                <a:ea typeface="Arial"/>
                <a:cs typeface="Arial"/>
                <a:sym typeface="Arial"/>
              </a:rPr>
              <a:t>Average position improved from 12.7 to 11.7</a:t>
            </a:r>
            <a:r>
              <a:rPr b="0" i="0" lang="en" sz="1200" u="none" cap="none" strike="noStrike">
                <a:solidFill>
                  <a:schemeClr val="dk1"/>
                </a:solidFill>
                <a:latin typeface="Arial"/>
                <a:ea typeface="Arial"/>
                <a:cs typeface="Arial"/>
                <a:sym typeface="Arial"/>
              </a:rPr>
              <a:t>, indicating stronger keyword rankings, which helped drive higher clicks despite the drop in impressions.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4"/>
          <p:cNvSpPr txBox="1"/>
          <p:nvPr>
            <p:ph type="title"/>
          </p:nvPr>
        </p:nvSpPr>
        <p:spPr>
          <a:xfrm>
            <a:off x="24450" y="0"/>
            <a:ext cx="6628200" cy="377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Keyword Movement March-26</a:t>
            </a:r>
            <a:endParaRPr/>
          </a:p>
        </p:txBody>
      </p:sp>
      <p:sp>
        <p:nvSpPr>
          <p:cNvPr id="650" name="Google Shape;650;p94"/>
          <p:cNvSpPr txBox="1"/>
          <p:nvPr/>
        </p:nvSpPr>
        <p:spPr>
          <a:xfrm>
            <a:off x="840921" y="906236"/>
            <a:ext cx="4482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Here is the G-Sheet Link for the Keyword rankings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54" name="Shape 654"/>
        <p:cNvGrpSpPr/>
        <p:nvPr/>
      </p:nvGrpSpPr>
      <p:grpSpPr>
        <a:xfrm>
          <a:off x="0" y="0"/>
          <a:ext cx="0" cy="0"/>
          <a:chOff x="0" y="0"/>
          <a:chExt cx="0" cy="0"/>
        </a:xfrm>
      </p:grpSpPr>
      <p:sp>
        <p:nvSpPr>
          <p:cNvPr id="655" name="Google Shape;655;p95"/>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April Creative</a:t>
            </a:r>
            <a:endParaRPr sz="4800">
              <a:solidFill>
                <a:schemeClr val="lt1"/>
              </a:solidFill>
            </a:endParaRPr>
          </a:p>
        </p:txBody>
      </p:sp>
      <p:sp>
        <p:nvSpPr>
          <p:cNvPr id="656" name="Google Shape;65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5"/>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58" name="Google Shape;658;p95"/>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96"/>
          <p:cNvSpPr txBox="1"/>
          <p:nvPr>
            <p:ph idx="1" type="body"/>
          </p:nvPr>
        </p:nvSpPr>
        <p:spPr>
          <a:xfrm>
            <a:off x="142900" y="536850"/>
            <a:ext cx="44292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a:t>Facebook</a:t>
            </a:r>
            <a:endParaRPr/>
          </a:p>
          <a:p>
            <a:pPr indent="-317500" lvl="1" marL="914400" rtl="0" algn="l">
              <a:spcBef>
                <a:spcPts val="0"/>
              </a:spcBef>
              <a:spcAft>
                <a:spcPts val="0"/>
              </a:spcAft>
              <a:buSzPts val="1400"/>
              <a:buChar char="○"/>
            </a:pPr>
            <a:r>
              <a:rPr lang="en"/>
              <a:t>Intender + EMail</a:t>
            </a:r>
            <a:endParaRPr/>
          </a:p>
        </p:txBody>
      </p:sp>
      <p:sp>
        <p:nvSpPr>
          <p:cNvPr id="664" name="Google Shape;664;p96"/>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Motorhome Campaign - Continue</a:t>
            </a:r>
            <a:endParaRPr/>
          </a:p>
        </p:txBody>
      </p:sp>
      <p:pic>
        <p:nvPicPr>
          <p:cNvPr id="665" name="Google Shape;665;p96"/>
          <p:cNvPicPr preferRelativeResize="0"/>
          <p:nvPr/>
        </p:nvPicPr>
        <p:blipFill rotWithShape="1">
          <a:blip r:embed="rId3">
            <a:alphaModFix/>
          </a:blip>
          <a:srcRect b="6174" l="20733" r="20231" t="0"/>
          <a:stretch/>
        </p:blipFill>
        <p:spPr>
          <a:xfrm>
            <a:off x="6776075" y="75712"/>
            <a:ext cx="1449700" cy="4992075"/>
          </a:xfrm>
          <a:prstGeom prst="rect">
            <a:avLst/>
          </a:prstGeom>
          <a:noFill/>
          <a:ln cap="flat" cmpd="sng" w="9525">
            <a:solidFill>
              <a:schemeClr val="dk2"/>
            </a:solidFill>
            <a:prstDash val="solid"/>
            <a:round/>
            <a:headEnd len="sm" w="sm" type="none"/>
            <a:tailEnd len="sm" w="sm" type="none"/>
          </a:ln>
        </p:spPr>
      </p:pic>
      <p:pic>
        <p:nvPicPr>
          <p:cNvPr id="666" name="Google Shape;666;p96"/>
          <p:cNvPicPr preferRelativeResize="0"/>
          <p:nvPr/>
        </p:nvPicPr>
        <p:blipFill>
          <a:blip r:embed="rId4">
            <a:alphaModFix/>
          </a:blip>
          <a:stretch>
            <a:fillRect/>
          </a:stretch>
        </p:blipFill>
        <p:spPr>
          <a:xfrm>
            <a:off x="3237225" y="767338"/>
            <a:ext cx="2669550" cy="3336937"/>
          </a:xfrm>
          <a:prstGeom prst="rect">
            <a:avLst/>
          </a:prstGeom>
          <a:noFill/>
          <a:ln cap="flat" cmpd="sng" w="9525">
            <a:solidFill>
              <a:schemeClr val="dk1"/>
            </a:solidFill>
            <a:prstDash val="solid"/>
            <a:round/>
            <a:headEnd len="sm" w="sm" type="none"/>
            <a:tailEnd len="sm" w="sm" type="none"/>
          </a:ln>
        </p:spPr>
      </p:pic>
      <p:sp>
        <p:nvSpPr>
          <p:cNvPr id="667" name="Google Shape;667;p96"/>
          <p:cNvSpPr txBox="1"/>
          <p:nvPr/>
        </p:nvSpPr>
        <p:spPr>
          <a:xfrm>
            <a:off x="709975" y="2306150"/>
            <a:ext cx="435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sold : 2 2025s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          3 2026s</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Indiana</a:t>
            </a:r>
            <a:endParaRPr sz="18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7"/>
          <p:cNvSpPr txBox="1"/>
          <p:nvPr>
            <p:ph idx="1" type="body"/>
          </p:nvPr>
        </p:nvSpPr>
        <p:spPr>
          <a:xfrm>
            <a:off x="198400" y="427400"/>
            <a:ext cx="3744300" cy="21129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265"/>
              <a:t>Given the focus needed to move the 200 aged units we recommend changing the creative direction for April &amp; May to be more a more urgent message giving consumers reasons to believe this is the time to get a big deal.</a:t>
            </a:r>
            <a:endParaRPr sz="1265"/>
          </a:p>
          <a:p>
            <a:pPr indent="0" lvl="0" marL="0" rtl="0" algn="l">
              <a:lnSpc>
                <a:spcPct val="95000"/>
              </a:lnSpc>
              <a:spcBef>
                <a:spcPts val="1200"/>
              </a:spcBef>
              <a:spcAft>
                <a:spcPts val="0"/>
              </a:spcAft>
              <a:buSzPts val="1018"/>
              <a:buNone/>
            </a:pPr>
            <a:r>
              <a:rPr lang="en" sz="1265"/>
              <a:t>This would be the focus on all platforms. OTT budget dramatically increases for April/May</a:t>
            </a:r>
            <a:endParaRPr sz="1265"/>
          </a:p>
          <a:p>
            <a:pPr indent="0" lvl="0" marL="0" rtl="0" algn="l">
              <a:lnSpc>
                <a:spcPct val="95000"/>
              </a:lnSpc>
              <a:spcBef>
                <a:spcPts val="1200"/>
              </a:spcBef>
              <a:spcAft>
                <a:spcPts val="1200"/>
              </a:spcAft>
              <a:buSzPts val="1018"/>
              <a:buNone/>
            </a:pPr>
            <a:r>
              <a:rPr lang="en" sz="1265"/>
              <a:t>We would tag the units on the lot and on the website</a:t>
            </a:r>
            <a:endParaRPr sz="1265"/>
          </a:p>
        </p:txBody>
      </p:sp>
      <p:sp>
        <p:nvSpPr>
          <p:cNvPr id="673" name="Google Shape;673;p97"/>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74" name="Google Shape;674;p97" title="Screenshot 2026-03-23 at 3.07.41 PM.png"/>
          <p:cNvPicPr preferRelativeResize="0"/>
          <p:nvPr/>
        </p:nvPicPr>
        <p:blipFill>
          <a:blip r:embed="rId3">
            <a:alphaModFix/>
          </a:blip>
          <a:stretch>
            <a:fillRect/>
          </a:stretch>
        </p:blipFill>
        <p:spPr>
          <a:xfrm>
            <a:off x="4140425" y="529500"/>
            <a:ext cx="4851177" cy="3112724"/>
          </a:xfrm>
          <a:prstGeom prst="rect">
            <a:avLst/>
          </a:prstGeom>
          <a:noFill/>
          <a:ln>
            <a:noFill/>
          </a:ln>
        </p:spPr>
      </p:pic>
      <p:sp>
        <p:nvSpPr>
          <p:cNvPr id="675" name="Google Shape;675;p97"/>
          <p:cNvSpPr/>
          <p:nvPr/>
        </p:nvSpPr>
        <p:spPr>
          <a:xfrm>
            <a:off x="6805125" y="3347325"/>
            <a:ext cx="2046900" cy="294900"/>
          </a:xfrm>
          <a:prstGeom prst="rect">
            <a:avLst/>
          </a:prstGeom>
          <a:solidFill>
            <a:srgbClr val="5A982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76" name="Google Shape;676;p97"/>
          <p:cNvSpPr txBox="1"/>
          <p:nvPr/>
        </p:nvSpPr>
        <p:spPr>
          <a:xfrm>
            <a:off x="6786225" y="3310125"/>
            <a:ext cx="208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Roboto"/>
                <a:ea typeface="Roboto"/>
                <a:cs typeface="Roboto"/>
                <a:sym typeface="Roboto"/>
              </a:rPr>
              <a:t>Unlock Zoomer 200 Price</a:t>
            </a:r>
            <a:endParaRPr b="1" sz="1200">
              <a:solidFill>
                <a:schemeClr val="lt1"/>
              </a:solidFill>
              <a:latin typeface="Roboto"/>
              <a:ea typeface="Roboto"/>
              <a:cs typeface="Roboto"/>
              <a:sym typeface="Roboto"/>
            </a:endParaRPr>
          </a:p>
        </p:txBody>
      </p:sp>
      <p:sp>
        <p:nvSpPr>
          <p:cNvPr id="677" name="Google Shape;677;p97"/>
          <p:cNvSpPr/>
          <p:nvPr/>
        </p:nvSpPr>
        <p:spPr>
          <a:xfrm>
            <a:off x="6686750" y="3258200"/>
            <a:ext cx="2272500" cy="522000"/>
          </a:xfrm>
          <a:prstGeom prst="ellipse">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Roboto"/>
              <a:ea typeface="Roboto"/>
              <a:cs typeface="Roboto"/>
              <a:sym typeface="Roboto"/>
            </a:endParaRPr>
          </a:p>
        </p:txBody>
      </p:sp>
      <p:sp>
        <p:nvSpPr>
          <p:cNvPr id="678" name="Google Shape;678;p97"/>
          <p:cNvSpPr txBox="1"/>
          <p:nvPr/>
        </p:nvSpPr>
        <p:spPr>
          <a:xfrm>
            <a:off x="415425" y="2306125"/>
            <a:ext cx="3565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Roboto"/>
                <a:ea typeface="Roboto"/>
                <a:cs typeface="Roboto"/>
                <a:sym typeface="Roboto"/>
              </a:rPr>
              <a:t>From aged inventory list sent over 3/23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6 aged units have sold</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LM5703</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C-2076</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9159</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9220</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Z2778</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rPr lang="en" sz="1300">
                <a:solidFill>
                  <a:schemeClr val="dk2"/>
                </a:solidFill>
                <a:latin typeface="Roboto"/>
                <a:ea typeface="Roboto"/>
                <a:cs typeface="Roboto"/>
                <a:sym typeface="Roboto"/>
              </a:rPr>
              <a:t>Z2803</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a:p>
            <a:pPr indent="0" lvl="0" marL="0" rtl="0" algn="l">
              <a:spcBef>
                <a:spcPts val="0"/>
              </a:spcBef>
              <a:spcAft>
                <a:spcPts val="0"/>
              </a:spcAft>
              <a:buNone/>
            </a:pPr>
            <a:r>
              <a:rPr lang="en" sz="1300">
                <a:solidFill>
                  <a:schemeClr val="dk2"/>
                </a:solidFill>
                <a:latin typeface="Roboto"/>
                <a:ea typeface="Roboto"/>
                <a:cs typeface="Roboto"/>
                <a:sym typeface="Roboto"/>
              </a:rPr>
              <a:t>Sale Pending </a:t>
            </a:r>
            <a:endParaRPr sz="1300">
              <a:solidFill>
                <a:schemeClr val="dk2"/>
              </a:solidFill>
              <a:latin typeface="Roboto"/>
              <a:ea typeface="Roboto"/>
              <a:cs typeface="Roboto"/>
              <a:sym typeface="Roboto"/>
            </a:endParaRPr>
          </a:p>
          <a:p>
            <a:pPr indent="-311150" lvl="0" marL="457200" rtl="0" algn="l">
              <a:spcBef>
                <a:spcPts val="0"/>
              </a:spcBef>
              <a:spcAft>
                <a:spcPts val="0"/>
              </a:spcAft>
              <a:buClr>
                <a:schemeClr val="dk2"/>
              </a:buClr>
              <a:buSzPts val="1300"/>
              <a:buFont typeface="Roboto"/>
              <a:buChar char="●"/>
            </a:pPr>
            <a:r>
              <a:t/>
            </a:r>
            <a:endParaRPr sz="1300">
              <a:solidFill>
                <a:schemeClr val="dk2"/>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98"/>
          <p:cNvSpPr txBox="1"/>
          <p:nvPr>
            <p:ph idx="1" type="body"/>
          </p:nvPr>
        </p:nvSpPr>
        <p:spPr>
          <a:xfrm>
            <a:off x="132975" y="497111"/>
            <a:ext cx="4385100" cy="4030800"/>
          </a:xfrm>
          <a:prstGeom prst="rect">
            <a:avLst/>
          </a:prstGeom>
        </p:spPr>
        <p:txBody>
          <a:bodyPr anchorCtr="0" anchor="t" bIns="91425" lIns="91425" spcFirstLastPara="1" rIns="91425" wrap="square" tIns="91425">
            <a:noAutofit/>
          </a:bodyPr>
          <a:lstStyle/>
          <a:p>
            <a:pPr indent="0" lvl="0" marL="0" rtl="0" algn="l">
              <a:lnSpc>
                <a:spcPct val="95000"/>
              </a:lnSpc>
              <a:spcBef>
                <a:spcPts val="1400"/>
              </a:spcBef>
              <a:spcAft>
                <a:spcPts val="0"/>
              </a:spcAft>
              <a:buClr>
                <a:schemeClr val="dk1"/>
              </a:buClr>
              <a:buSzPts val="275"/>
              <a:buFont typeface="Arial"/>
              <a:buNone/>
            </a:pPr>
            <a:r>
              <a:rPr b="1" lang="en" sz="1100">
                <a:solidFill>
                  <a:schemeClr val="dk1"/>
                </a:solidFill>
                <a:latin typeface="Arial"/>
                <a:ea typeface="Arial"/>
                <a:cs typeface="Arial"/>
                <a:sym typeface="Arial"/>
              </a:rPr>
              <a:t>The Zoomers 200 (Favorite)</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race is on.</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Two hundred RVs have been sitting on the lot too long—</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and now it’s a full-on sprint to sell them.</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Welcome to </a:t>
            </a:r>
            <a:r>
              <a:rPr b="1" lang="en" sz="1100">
                <a:solidFill>
                  <a:schemeClr val="dk1"/>
                </a:solidFill>
                <a:latin typeface="Arial"/>
                <a:ea typeface="Arial"/>
                <a:cs typeface="Arial"/>
                <a:sym typeface="Arial"/>
              </a:rPr>
              <a:t>The Zoomers 200.</a:t>
            </a:r>
            <a:endParaRPr b="1"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Where every unit is priced to move—fast.</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That means incredible discounts on new and pre-owned RVs.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We’re talking some of the lowest prices in the nation</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on America’s top brands—from motorhomes to travel trailers.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Look for the Deep Discount tag— on </a:t>
            </a:r>
            <a:r>
              <a:rPr lang="en" sz="1100">
                <a:solidFill>
                  <a:schemeClr val="dk1"/>
                </a:solidFill>
                <a:uFill>
                  <a:noFill/>
                </a:uFill>
                <a:latin typeface="Arial"/>
                <a:ea typeface="Arial"/>
                <a:cs typeface="Arial"/>
                <a:sym typeface="Arial"/>
                <a:hlinkClick r:id="rId3">
                  <a:extLst>
                    <a:ext uri="{A12FA001-AC4F-418D-AE19-62706E023703}">
                      <ahyp:hlinkClr val="tx"/>
                    </a:ext>
                  </a:extLst>
                </a:hlinkClick>
              </a:rPr>
              <a:t>ZoomersRV.Com</a:t>
            </a:r>
            <a:r>
              <a:rPr lang="en" sz="1100">
                <a:solidFill>
                  <a:schemeClr val="dk1"/>
                </a:solidFill>
                <a:latin typeface="Arial"/>
                <a:ea typeface="Arial"/>
                <a:cs typeface="Arial"/>
                <a:sym typeface="Arial"/>
              </a:rPr>
              <a:t> and on our lots</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The longer it’s been here, the bigger the savings.</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But don’t wait—these deals won’t last long.</a:t>
            </a:r>
            <a:endParaRPr sz="1100">
              <a:solidFill>
                <a:schemeClr val="dk1"/>
              </a:solidFill>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1100">
                <a:solidFill>
                  <a:schemeClr val="dk1"/>
                </a:solidFill>
                <a:latin typeface="Arial"/>
                <a:ea typeface="Arial"/>
                <a:cs typeface="Arial"/>
                <a:sym typeface="Arial"/>
              </a:rPr>
              <a:t>The Zoomers 200.</a:t>
            </a:r>
            <a:br>
              <a:rPr lang="en" sz="1100">
                <a:solidFill>
                  <a:schemeClr val="dk1"/>
                </a:solidFill>
                <a:latin typeface="Arial"/>
                <a:ea typeface="Arial"/>
                <a:cs typeface="Arial"/>
                <a:sym typeface="Arial"/>
              </a:rPr>
            </a:br>
            <a:r>
              <a:rPr lang="en" sz="1100">
                <a:solidFill>
                  <a:schemeClr val="dk1"/>
                </a:solidFill>
                <a:latin typeface="Arial"/>
                <a:ea typeface="Arial"/>
                <a:cs typeface="Arial"/>
                <a:sym typeface="Arial"/>
              </a:rPr>
              <a:t> Happening now at all three Zoomers RV locations.</a:t>
            </a:r>
            <a:endParaRPr sz="1100">
              <a:solidFill>
                <a:schemeClr val="dk1"/>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b="1" sz="100">
              <a:solidFill>
                <a:srgbClr val="FF0000"/>
              </a:solidFill>
              <a:latin typeface="Arial"/>
              <a:ea typeface="Arial"/>
              <a:cs typeface="Arial"/>
              <a:sym typeface="Arial"/>
            </a:endParaRPr>
          </a:p>
        </p:txBody>
      </p:sp>
      <p:sp>
        <p:nvSpPr>
          <p:cNvPr id="684" name="Google Shape;684;p98"/>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April-May</a:t>
            </a:r>
            <a:endParaRPr/>
          </a:p>
        </p:txBody>
      </p:sp>
      <p:pic>
        <p:nvPicPr>
          <p:cNvPr id="685" name="Google Shape;685;p98" title="Screenshot 2026-03-30 at 7.29.08 AM.png"/>
          <p:cNvPicPr preferRelativeResize="0"/>
          <p:nvPr/>
        </p:nvPicPr>
        <p:blipFill rotWithShape="1">
          <a:blip r:embed="rId4">
            <a:alphaModFix/>
          </a:blip>
          <a:srcRect b="0" l="4270" r="0" t="8842"/>
          <a:stretch/>
        </p:blipFill>
        <p:spPr>
          <a:xfrm>
            <a:off x="5232925" y="1881900"/>
            <a:ext cx="3310826" cy="1509300"/>
          </a:xfrm>
          <a:prstGeom prst="rect">
            <a:avLst/>
          </a:prstGeom>
          <a:noFill/>
          <a:ln>
            <a:noFill/>
          </a:ln>
        </p:spPr>
      </p:pic>
      <p:pic>
        <p:nvPicPr>
          <p:cNvPr id="686" name="Google Shape;686;p98" title="Screenshot 2026-03-30 at 7.30.18 AM.png"/>
          <p:cNvPicPr preferRelativeResize="0"/>
          <p:nvPr/>
        </p:nvPicPr>
        <p:blipFill>
          <a:blip r:embed="rId5">
            <a:alphaModFix/>
          </a:blip>
          <a:stretch>
            <a:fillRect/>
          </a:stretch>
        </p:blipFill>
        <p:spPr>
          <a:xfrm>
            <a:off x="4705199" y="3513826"/>
            <a:ext cx="4105324" cy="1205199"/>
          </a:xfrm>
          <a:prstGeom prst="rect">
            <a:avLst/>
          </a:prstGeom>
          <a:noFill/>
          <a:ln>
            <a:noFill/>
          </a:ln>
        </p:spPr>
      </p:pic>
      <p:pic>
        <p:nvPicPr>
          <p:cNvPr id="687" name="Google Shape;687;p98" title="Screenshot 2026-03-30 at 7.34.04 AM.png"/>
          <p:cNvPicPr preferRelativeResize="0"/>
          <p:nvPr/>
        </p:nvPicPr>
        <p:blipFill rotWithShape="1">
          <a:blip r:embed="rId6">
            <a:alphaModFix/>
          </a:blip>
          <a:srcRect b="0" l="882" r="0" t="8324"/>
          <a:stretch/>
        </p:blipFill>
        <p:spPr>
          <a:xfrm>
            <a:off x="4618225" y="608025"/>
            <a:ext cx="4105324" cy="97338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691" name="Shape 691"/>
        <p:cNvGrpSpPr/>
        <p:nvPr/>
      </p:nvGrpSpPr>
      <p:grpSpPr>
        <a:xfrm>
          <a:off x="0" y="0"/>
          <a:ext cx="0" cy="0"/>
          <a:chOff x="0" y="0"/>
          <a:chExt cx="0" cy="0"/>
        </a:xfrm>
      </p:grpSpPr>
      <p:sp>
        <p:nvSpPr>
          <p:cNvPr id="692" name="Google Shape;692;p99"/>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2026 Budget</a:t>
            </a:r>
            <a:endParaRPr sz="4800">
              <a:solidFill>
                <a:schemeClr val="lt1"/>
              </a:solidFill>
            </a:endParaRPr>
          </a:p>
        </p:txBody>
      </p:sp>
      <p:sp>
        <p:nvSpPr>
          <p:cNvPr id="693" name="Google Shape;693;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99"/>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695" name="Google Shape;695;p99"/>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00"/>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2026 Budget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AC2DA"/>
            </a:gs>
            <a:gs pos="100000">
              <a:srgbClr val="4984A8"/>
            </a:gs>
          </a:gsLst>
          <a:path path="circle">
            <a:fillToRect b="50%" l="50%" r="50%" t="50%"/>
          </a:path>
          <a:tileRect/>
        </a:gradFill>
      </p:bgPr>
    </p:bg>
    <p:spTree>
      <p:nvGrpSpPr>
        <p:cNvPr id="704" name="Shape 704"/>
        <p:cNvGrpSpPr/>
        <p:nvPr/>
      </p:nvGrpSpPr>
      <p:grpSpPr>
        <a:xfrm>
          <a:off x="0" y="0"/>
          <a:ext cx="0" cy="0"/>
          <a:chOff x="0" y="0"/>
          <a:chExt cx="0" cy="0"/>
        </a:xfrm>
      </p:grpSpPr>
      <p:sp>
        <p:nvSpPr>
          <p:cNvPr id="705" name="Google Shape;705;p101"/>
          <p:cNvSpPr txBox="1"/>
          <p:nvPr>
            <p:ph type="title"/>
          </p:nvPr>
        </p:nvSpPr>
        <p:spPr>
          <a:xfrm>
            <a:off x="784050" y="1470725"/>
            <a:ext cx="7688400" cy="1518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800">
                <a:solidFill>
                  <a:schemeClr val="lt1"/>
                </a:solidFill>
              </a:rPr>
              <a:t>Appendix</a:t>
            </a:r>
            <a:endParaRPr sz="4800">
              <a:solidFill>
                <a:schemeClr val="lt1"/>
              </a:solidFill>
            </a:endParaRPr>
          </a:p>
        </p:txBody>
      </p:sp>
      <p:sp>
        <p:nvSpPr>
          <p:cNvPr id="706" name="Google Shape;706;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7" name="Google Shape;707;p101"/>
          <p:cNvSpPr txBox="1"/>
          <p:nvPr/>
        </p:nvSpPr>
        <p:spPr>
          <a:xfrm>
            <a:off x="1119000" y="3542500"/>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rgbClr val="FF0000"/>
              </a:solidFill>
              <a:latin typeface="Lato"/>
              <a:ea typeface="Lato"/>
              <a:cs typeface="Lato"/>
              <a:sym typeface="Lato"/>
            </a:endParaRPr>
          </a:p>
        </p:txBody>
      </p:sp>
      <p:sp>
        <p:nvSpPr>
          <p:cNvPr id="708" name="Google Shape;708;p101"/>
          <p:cNvSpPr txBox="1"/>
          <p:nvPr/>
        </p:nvSpPr>
        <p:spPr>
          <a:xfrm>
            <a:off x="706375" y="2856925"/>
            <a:ext cx="7048200" cy="8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02"/>
          <p:cNvSpPr txBox="1"/>
          <p:nvPr>
            <p:ph type="title"/>
          </p:nvPr>
        </p:nvSpPr>
        <p:spPr>
          <a:xfrm>
            <a:off x="24450" y="0"/>
            <a:ext cx="6628200" cy="3771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User Acquisition</a:t>
            </a:r>
            <a:endParaRPr/>
          </a:p>
        </p:txBody>
      </p:sp>
      <p:pic>
        <p:nvPicPr>
          <p:cNvPr id="714" name="Google Shape;714;p102" title="Screenshot 2026-02-05 at 2.06.44 PM.png"/>
          <p:cNvPicPr preferRelativeResize="0"/>
          <p:nvPr/>
        </p:nvPicPr>
        <p:blipFill>
          <a:blip r:embed="rId3">
            <a:alphaModFix/>
          </a:blip>
          <a:stretch>
            <a:fillRect/>
          </a:stretch>
        </p:blipFill>
        <p:spPr>
          <a:xfrm>
            <a:off x="152400" y="529500"/>
            <a:ext cx="7184751" cy="4147951"/>
          </a:xfrm>
          <a:prstGeom prst="rect">
            <a:avLst/>
          </a:prstGeom>
          <a:noFill/>
          <a:ln>
            <a:noFill/>
          </a:ln>
        </p:spPr>
      </p:pic>
      <p:sp>
        <p:nvSpPr>
          <p:cNvPr id="715" name="Google Shape;715;p102"/>
          <p:cNvSpPr/>
          <p:nvPr/>
        </p:nvSpPr>
        <p:spPr>
          <a:xfrm>
            <a:off x="329450" y="1759425"/>
            <a:ext cx="3047100" cy="28527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heeler Deck">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